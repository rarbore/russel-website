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Raleway"/>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B215FD-3E92-4F89-9A14-DAAF3BB83B63}">
  <a:tblStyle styleId="{56B215FD-3E92-4F89-9A14-DAAF3BB83B6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aleway-regular.fntdata"/><Relationship Id="rId25" Type="http://schemas.openxmlformats.org/officeDocument/2006/relationships/slide" Target="slides/slide19.xml"/><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aleway-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5.xml"/><Relationship Id="rId33" Type="http://schemas.openxmlformats.org/officeDocument/2006/relationships/font" Target="fonts/Lato-boldItalic.fntdata"/><Relationship Id="rId10" Type="http://schemas.openxmlformats.org/officeDocument/2006/relationships/slide" Target="slides/slide4.xml"/><Relationship Id="rId32" Type="http://schemas.openxmlformats.org/officeDocument/2006/relationships/font" Target="fonts/Lato-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be7ec9699d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be7ec9699d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 process of changing high resolution images into the most accurate representation of them with less colors in order to save memory/space *JUST REDUCES COLORS</a:t>
            </a:r>
            <a:endParaRPr/>
          </a:p>
          <a:p>
            <a:pPr indent="-298450" lvl="0" marL="457200" rtl="0" algn="l">
              <a:spcBef>
                <a:spcPts val="0"/>
              </a:spcBef>
              <a:spcAft>
                <a:spcPts val="0"/>
              </a:spcAft>
              <a:buSzPts val="1100"/>
              <a:buChar char="●"/>
            </a:pPr>
            <a:r>
              <a:rPr lang="en"/>
              <a:t>Used to be absolutely necessary for pre-processing data for image manipulation algorithms because high resolution images were too big</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be7ec9699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be7ec9699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Now it is used for compression, segmentation, text detection, color/texture analysis, watermarking, non-photorealistic rendering, content-based retrieval (probably don’t need to present all)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Content retrieval = low-bandwidth retrieval of images</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bdcfdcfbe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bdcfdcfbe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c214f0ef6e_19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c214f0ef6e_19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be7ec9699d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be7ec9699d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be7ec9699d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be7ec9699d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d9187a407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d9187a407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d9187a407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d9187a407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d9187a407f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d9187a407f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db67b6147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db67b6147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db67b6147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db67b6147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dc5ce6b3fd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dc5ce6b3fd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db67b6147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db67b6147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db67b6147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db67b6147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db67b6147f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db67b6147f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db67b6147f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db67b6147f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d9187a40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d9187a40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9815ad833c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9815ad833c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image" Target="../media/image8.png"/><Relationship Id="rId13" Type="http://schemas.openxmlformats.org/officeDocument/2006/relationships/image" Target="../media/image4.png"/><Relationship Id="rId12" Type="http://schemas.openxmlformats.org/officeDocument/2006/relationships/image" Target="../media/image7.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8.png"/><Relationship Id="rId9"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0.png"/><Relationship Id="rId7" Type="http://schemas.openxmlformats.org/officeDocument/2006/relationships/image" Target="../media/image5.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0.jp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5.png"/><Relationship Id="rId7"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8.png"/><Relationship Id="rId4" Type="http://schemas.openxmlformats.org/officeDocument/2006/relationships/image" Target="../media/image24.png"/><Relationship Id="rId5"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9.jpg"/><Relationship Id="rId4" Type="http://schemas.openxmlformats.org/officeDocument/2006/relationships/image" Target="../media/image17.png"/><Relationship Id="rId5"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27.png"/><Relationship Id="rId5" Type="http://schemas.openxmlformats.org/officeDocument/2006/relationships/image" Target="../media/image29.png"/><Relationship Id="rId6"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22.png"/><Relationship Id="rId5" Type="http://schemas.openxmlformats.org/officeDocument/2006/relationships/image" Target="../media/image26.png"/><Relationship Id="rId6"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Using deep learning to non-iteratively conduct palette generation in class specific color quantization</a:t>
            </a:r>
            <a:endParaRPr sz="2800"/>
          </a:p>
          <a:p>
            <a:pPr indent="0" lvl="0" marL="0" rtl="0" algn="l">
              <a:spcBef>
                <a:spcPts val="0"/>
              </a:spcBef>
              <a:spcAft>
                <a:spcPts val="0"/>
              </a:spcAft>
              <a:buNone/>
            </a:pPr>
            <a:r>
              <a:t/>
            </a:r>
            <a:endParaRPr sz="1800"/>
          </a:p>
        </p:txBody>
      </p:sp>
      <p:sp>
        <p:nvSpPr>
          <p:cNvPr id="87" name="Google Shape;87;p13"/>
          <p:cNvSpPr txBox="1"/>
          <p:nvPr>
            <p:ph idx="1" type="subTitle"/>
          </p:nvPr>
        </p:nvSpPr>
        <p:spPr>
          <a:xfrm>
            <a:off x="729625" y="3172900"/>
            <a:ext cx="7688100" cy="6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Russel Arbore and Ezra Tock</a:t>
            </a:r>
            <a:endParaRPr/>
          </a:p>
          <a:p>
            <a:pPr indent="0" lvl="0" marL="0" rtl="0" algn="l">
              <a:spcBef>
                <a:spcPts val="0"/>
              </a:spcBef>
              <a:spcAft>
                <a:spcPts val="0"/>
              </a:spcAft>
              <a:buNone/>
            </a:pPr>
            <a:r>
              <a:rPr lang="en"/>
              <a:t>Los Altos High School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Color Quantization (CQ)?</a:t>
            </a:r>
            <a:endParaRPr/>
          </a:p>
        </p:txBody>
      </p:sp>
      <p:sp>
        <p:nvSpPr>
          <p:cNvPr id="93" name="Google Shape;93;p14"/>
          <p:cNvSpPr txBox="1"/>
          <p:nvPr/>
        </p:nvSpPr>
        <p:spPr>
          <a:xfrm>
            <a:off x="0" y="4972200"/>
            <a:ext cx="9144000" cy="16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500"/>
              <a:t>Walker, Ryan. “Color Quantization in R.” </a:t>
            </a:r>
            <a:r>
              <a:rPr i="1" lang="en" sz="500"/>
              <a:t>R</a:t>
            </a:r>
            <a:r>
              <a:rPr lang="en" sz="500"/>
              <a:t>, 3 Jan. 2016, www.r-bloggers.com/2016/01/color-quantization-in-r/. </a:t>
            </a:r>
            <a:r>
              <a:rPr lang="en" sz="500"/>
              <a:t>  </a:t>
            </a:r>
            <a:endParaRPr sz="500"/>
          </a:p>
          <a:p>
            <a:pPr indent="0" lvl="0" marL="0" rtl="0" algn="l">
              <a:spcBef>
                <a:spcPts val="0"/>
              </a:spcBef>
              <a:spcAft>
                <a:spcPts val="0"/>
              </a:spcAft>
              <a:buNone/>
            </a:pPr>
            <a:r>
              <a:t/>
            </a:r>
            <a:endParaRPr sz="100">
              <a:latin typeface="Lato"/>
              <a:ea typeface="Lato"/>
              <a:cs typeface="Lato"/>
              <a:sym typeface="Lato"/>
            </a:endParaRPr>
          </a:p>
        </p:txBody>
      </p:sp>
      <p:sp>
        <p:nvSpPr>
          <p:cNvPr id="94" name="Google Shape;94;p14"/>
          <p:cNvSpPr txBox="1"/>
          <p:nvPr>
            <p:ph idx="1" type="body"/>
          </p:nvPr>
        </p:nvSpPr>
        <p:spPr>
          <a:xfrm>
            <a:off x="729325" y="2078875"/>
            <a:ext cx="3291600" cy="200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“Representing an image with high color-depth as accurately as possible with a smaller color palette”</a:t>
            </a:r>
            <a:endParaRPr/>
          </a:p>
          <a:p>
            <a:pPr indent="-311150" lvl="0" marL="457200" rtl="0" algn="l">
              <a:spcBef>
                <a:spcPts val="1600"/>
              </a:spcBef>
              <a:spcAft>
                <a:spcPts val="0"/>
              </a:spcAft>
              <a:buSzPts val="1300"/>
              <a:buAutoNum type="arabicPeriod"/>
            </a:pPr>
            <a:r>
              <a:rPr lang="en"/>
              <a:t>Palette generation (least trivial part):  finding 𝙆 colors that can best represent the image</a:t>
            </a:r>
            <a:endParaRPr/>
          </a:p>
          <a:p>
            <a:pPr indent="-311150" lvl="0" marL="457200" rtl="0" algn="l">
              <a:spcBef>
                <a:spcPts val="0"/>
              </a:spcBef>
              <a:spcAft>
                <a:spcPts val="0"/>
              </a:spcAft>
              <a:buSzPts val="1300"/>
              <a:buAutoNum type="arabicPeriod"/>
            </a:pPr>
            <a:r>
              <a:rPr lang="en"/>
              <a:t>Pixel mapping: mapping each pixel to the closest color in the palette to create the “quantized” image</a:t>
            </a:r>
            <a:endParaRPr/>
          </a:p>
        </p:txBody>
      </p:sp>
      <p:grpSp>
        <p:nvGrpSpPr>
          <p:cNvPr id="95" name="Google Shape;95;p14"/>
          <p:cNvGrpSpPr/>
          <p:nvPr/>
        </p:nvGrpSpPr>
        <p:grpSpPr>
          <a:xfrm>
            <a:off x="5144886" y="1794585"/>
            <a:ext cx="2816504" cy="2761638"/>
            <a:chOff x="5754475" y="1789910"/>
            <a:chExt cx="3164256" cy="3102615"/>
          </a:xfrm>
        </p:grpSpPr>
        <p:pic>
          <p:nvPicPr>
            <p:cNvPr id="96" name="Google Shape;96;p14"/>
            <p:cNvPicPr preferRelativeResize="0"/>
            <p:nvPr/>
          </p:nvPicPr>
          <p:blipFill rotWithShape="1">
            <a:blip r:embed="rId3">
              <a:alphaModFix/>
            </a:blip>
            <a:srcRect b="0" l="0" r="0" t="7655"/>
            <a:stretch/>
          </p:blipFill>
          <p:spPr>
            <a:xfrm>
              <a:off x="5754475" y="2078875"/>
              <a:ext cx="3094575" cy="2813650"/>
            </a:xfrm>
            <a:prstGeom prst="rect">
              <a:avLst/>
            </a:prstGeom>
            <a:noFill/>
            <a:ln>
              <a:noFill/>
            </a:ln>
          </p:spPr>
        </p:pic>
        <p:sp>
          <p:nvSpPr>
            <p:cNvPr id="97" name="Google Shape;97;p14"/>
            <p:cNvSpPr txBox="1"/>
            <p:nvPr/>
          </p:nvSpPr>
          <p:spPr>
            <a:xfrm>
              <a:off x="5939175" y="1789910"/>
              <a:ext cx="1198200" cy="38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Lato"/>
                  <a:ea typeface="Lato"/>
                  <a:cs typeface="Lato"/>
                  <a:sym typeface="Lato"/>
                </a:rPr>
                <a:t>Original image</a:t>
              </a:r>
              <a:endParaRPr sz="700">
                <a:latin typeface="Lato"/>
                <a:ea typeface="Lato"/>
                <a:cs typeface="Lato"/>
                <a:sym typeface="Lato"/>
              </a:endParaRPr>
            </a:p>
          </p:txBody>
        </p:sp>
        <p:sp>
          <p:nvSpPr>
            <p:cNvPr id="98" name="Google Shape;98;p14"/>
            <p:cNvSpPr txBox="1"/>
            <p:nvPr/>
          </p:nvSpPr>
          <p:spPr>
            <a:xfrm>
              <a:off x="5965780" y="3165661"/>
              <a:ext cx="1198200" cy="38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Lato"/>
                  <a:ea typeface="Lato"/>
                  <a:cs typeface="Lato"/>
                  <a:sym typeface="Lato"/>
                </a:rPr>
                <a:t>Original palette</a:t>
              </a:r>
              <a:endParaRPr sz="700">
                <a:latin typeface="Lato"/>
                <a:ea typeface="Lato"/>
                <a:cs typeface="Lato"/>
                <a:sym typeface="Lato"/>
              </a:endParaRPr>
            </a:p>
          </p:txBody>
        </p:sp>
        <p:sp>
          <p:nvSpPr>
            <p:cNvPr id="99" name="Google Shape;99;p14"/>
            <p:cNvSpPr txBox="1"/>
            <p:nvPr/>
          </p:nvSpPr>
          <p:spPr>
            <a:xfrm>
              <a:off x="7368631" y="3181161"/>
              <a:ext cx="1550100" cy="38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Lato"/>
                  <a:ea typeface="Lato"/>
                  <a:cs typeface="Lato"/>
                  <a:sym typeface="Lato"/>
                </a:rPr>
                <a:t>Generated</a:t>
              </a:r>
              <a:r>
                <a:rPr lang="en" sz="1000">
                  <a:latin typeface="Lato"/>
                  <a:ea typeface="Lato"/>
                  <a:cs typeface="Lato"/>
                  <a:sym typeface="Lato"/>
                </a:rPr>
                <a:t> palette</a:t>
              </a:r>
              <a:endParaRPr sz="700">
                <a:latin typeface="Lato"/>
                <a:ea typeface="Lato"/>
                <a:cs typeface="Lato"/>
                <a:sym typeface="Lato"/>
              </a:endParaRPr>
            </a:p>
          </p:txBody>
        </p:sp>
        <p:sp>
          <p:nvSpPr>
            <p:cNvPr id="100" name="Google Shape;100;p14"/>
            <p:cNvSpPr txBox="1"/>
            <p:nvPr/>
          </p:nvSpPr>
          <p:spPr>
            <a:xfrm>
              <a:off x="7448919" y="1789911"/>
              <a:ext cx="1309800" cy="38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Lato"/>
                  <a:ea typeface="Lato"/>
                  <a:cs typeface="Lato"/>
                  <a:sym typeface="Lato"/>
                </a:rPr>
                <a:t>Quantized</a:t>
              </a:r>
              <a:r>
                <a:rPr lang="en" sz="1000">
                  <a:latin typeface="Lato"/>
                  <a:ea typeface="Lato"/>
                  <a:cs typeface="Lato"/>
                  <a:sym typeface="Lato"/>
                </a:rPr>
                <a:t> image</a:t>
              </a:r>
              <a:endParaRPr sz="700">
                <a:latin typeface="Lato"/>
                <a:ea typeface="Lato"/>
                <a:cs typeface="Lato"/>
                <a:sym typeface="Lato"/>
              </a:endParaRPr>
            </a:p>
          </p:txBody>
        </p:sp>
      </p:grpSp>
      <p:sp>
        <p:nvSpPr>
          <p:cNvPr id="101" name="Google Shape;101;p14"/>
          <p:cNvSpPr/>
          <p:nvPr/>
        </p:nvSpPr>
        <p:spPr>
          <a:xfrm flipH="1" rot="-8633839">
            <a:off x="4651686" y="2874033"/>
            <a:ext cx="788651" cy="798907"/>
          </a:xfrm>
          <a:prstGeom prst="bentArrow">
            <a:avLst>
              <a:gd fmla="val 16279" name="adj1"/>
              <a:gd fmla="val 16878" name="adj2"/>
              <a:gd fmla="val 17066" name="adj3"/>
              <a:gd fmla="val 70801"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txBox="1"/>
          <p:nvPr/>
        </p:nvSpPr>
        <p:spPr>
          <a:xfrm>
            <a:off x="4067541" y="2963441"/>
            <a:ext cx="7242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Lato"/>
                <a:ea typeface="Lato"/>
                <a:cs typeface="Lato"/>
                <a:sym typeface="Lato"/>
              </a:rPr>
              <a:t>Extract</a:t>
            </a:r>
            <a:endParaRPr sz="1100">
              <a:latin typeface="Lato"/>
              <a:ea typeface="Lato"/>
              <a:cs typeface="Lato"/>
              <a:sym typeface="Lato"/>
            </a:endParaRPr>
          </a:p>
          <a:p>
            <a:pPr indent="0" lvl="0" marL="0" rtl="0" algn="ctr">
              <a:spcBef>
                <a:spcPts val="0"/>
              </a:spcBef>
              <a:spcAft>
                <a:spcPts val="0"/>
              </a:spcAft>
              <a:buNone/>
            </a:pPr>
            <a:r>
              <a:rPr lang="en" sz="1100">
                <a:latin typeface="Lato"/>
                <a:ea typeface="Lato"/>
                <a:cs typeface="Lato"/>
                <a:sym typeface="Lato"/>
              </a:rPr>
              <a:t>Colors</a:t>
            </a:r>
            <a:endParaRPr sz="1100">
              <a:latin typeface="Lato"/>
              <a:ea typeface="Lato"/>
              <a:cs typeface="Lato"/>
              <a:sym typeface="Lato"/>
            </a:endParaRPr>
          </a:p>
        </p:txBody>
      </p:sp>
      <p:sp>
        <p:nvSpPr>
          <p:cNvPr id="103" name="Google Shape;103;p14"/>
          <p:cNvSpPr/>
          <p:nvPr/>
        </p:nvSpPr>
        <p:spPr>
          <a:xfrm flipH="1" rot="8098151">
            <a:off x="6261317" y="4126342"/>
            <a:ext cx="788707" cy="798889"/>
          </a:xfrm>
          <a:prstGeom prst="bentArrow">
            <a:avLst>
              <a:gd fmla="val 16279" name="adj1"/>
              <a:gd fmla="val 16878" name="adj2"/>
              <a:gd fmla="val 17066" name="adj3"/>
              <a:gd fmla="val 70801"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txBox="1"/>
          <p:nvPr/>
        </p:nvSpPr>
        <p:spPr>
          <a:xfrm>
            <a:off x="5768255" y="4772875"/>
            <a:ext cx="1667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Lato"/>
                <a:ea typeface="Lato"/>
                <a:cs typeface="Lato"/>
                <a:sym typeface="Lato"/>
              </a:rPr>
              <a:t>Palette Generation</a:t>
            </a:r>
            <a:endParaRPr sz="1100">
              <a:latin typeface="Lato"/>
              <a:ea typeface="Lato"/>
              <a:cs typeface="Lato"/>
              <a:sym typeface="Lato"/>
            </a:endParaRPr>
          </a:p>
        </p:txBody>
      </p:sp>
      <p:sp>
        <p:nvSpPr>
          <p:cNvPr id="105" name="Google Shape;105;p14"/>
          <p:cNvSpPr/>
          <p:nvPr/>
        </p:nvSpPr>
        <p:spPr>
          <a:xfrm flipH="1" rot="2698151">
            <a:off x="7699605" y="2812063"/>
            <a:ext cx="788707" cy="798889"/>
          </a:xfrm>
          <a:prstGeom prst="bentArrow">
            <a:avLst>
              <a:gd fmla="val 16279" name="adj1"/>
              <a:gd fmla="val 16878" name="adj2"/>
              <a:gd fmla="val 17066" name="adj3"/>
              <a:gd fmla="val 70801"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txBox="1"/>
          <p:nvPr/>
        </p:nvSpPr>
        <p:spPr>
          <a:xfrm>
            <a:off x="8391996" y="2996594"/>
            <a:ext cx="7242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Lato"/>
                <a:ea typeface="Lato"/>
                <a:cs typeface="Lato"/>
                <a:sym typeface="Lato"/>
              </a:rPr>
              <a:t>Pixel Mapping</a:t>
            </a:r>
            <a:endParaRPr sz="1100">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5"/>
          <p:cNvSpPr txBox="1"/>
          <p:nvPr>
            <p:ph type="title"/>
          </p:nvPr>
        </p:nvSpPr>
        <p:spPr>
          <a:xfrm>
            <a:off x="727650" y="609475"/>
            <a:ext cx="31335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Applications of CQ</a:t>
            </a:r>
            <a:endParaRPr/>
          </a:p>
        </p:txBody>
      </p:sp>
      <p:sp>
        <p:nvSpPr>
          <p:cNvPr id="112" name="Google Shape;112;p15"/>
          <p:cNvSpPr txBox="1"/>
          <p:nvPr>
            <p:ph idx="1" type="body"/>
          </p:nvPr>
        </p:nvSpPr>
        <p:spPr>
          <a:xfrm>
            <a:off x="0" y="1109850"/>
            <a:ext cx="6120600" cy="3867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Image compression</a:t>
            </a:r>
            <a:endParaRPr/>
          </a:p>
          <a:p>
            <a:pPr indent="-311150" lvl="1" marL="914400" rtl="0" algn="l">
              <a:spcBef>
                <a:spcPts val="0"/>
              </a:spcBef>
              <a:spcAft>
                <a:spcPts val="0"/>
              </a:spcAft>
              <a:buSzPts val="1300"/>
              <a:buChar char="○"/>
            </a:pPr>
            <a:r>
              <a:rPr lang="en" sz="1300"/>
              <a:t>For Bitmaps</a:t>
            </a:r>
            <a:endParaRPr sz="1300"/>
          </a:p>
          <a:p>
            <a:pPr indent="-311150" lvl="2" marL="1371600" rtl="0" algn="l">
              <a:spcBef>
                <a:spcPts val="0"/>
              </a:spcBef>
              <a:spcAft>
                <a:spcPts val="0"/>
              </a:spcAft>
              <a:buSzPts val="1300"/>
              <a:buChar char="■"/>
            </a:pPr>
            <a:r>
              <a:rPr lang="en" sz="1300"/>
              <a:t>Fewer bits needed per pixel with fewer colors</a:t>
            </a:r>
            <a:endParaRPr sz="1300"/>
          </a:p>
          <a:p>
            <a:pPr indent="-311150" lvl="2" marL="1371600" rtl="0" algn="l">
              <a:spcBef>
                <a:spcPts val="0"/>
              </a:spcBef>
              <a:spcAft>
                <a:spcPts val="0"/>
              </a:spcAft>
              <a:buSzPts val="1300"/>
              <a:buChar char="■"/>
            </a:pPr>
            <a:r>
              <a:rPr lang="en" sz="1300"/>
              <a:t>24-bit color requires 3 bytes per pixel</a:t>
            </a:r>
            <a:endParaRPr sz="1300"/>
          </a:p>
          <a:p>
            <a:pPr indent="-311150" lvl="2" marL="1371600" rtl="0" algn="l">
              <a:spcBef>
                <a:spcPts val="0"/>
              </a:spcBef>
              <a:spcAft>
                <a:spcPts val="0"/>
              </a:spcAft>
              <a:buSzPts val="1300"/>
              <a:buChar char="■"/>
            </a:pPr>
            <a:r>
              <a:rPr lang="en" sz="1300"/>
              <a:t>A quantized image w/ 64 colors requires 6 </a:t>
            </a:r>
            <a:r>
              <a:rPr i="1" lang="en" sz="1300"/>
              <a:t>bits</a:t>
            </a:r>
            <a:r>
              <a:rPr lang="en" sz="1300"/>
              <a:t> (¾ of a byte) per pixel + </a:t>
            </a:r>
            <a:r>
              <a:rPr lang="en" sz="1300"/>
              <a:t>𝙆 </a:t>
            </a:r>
            <a:r>
              <a:rPr lang="en" sz="1300"/>
              <a:t> * 24 bits (192 bytes for </a:t>
            </a:r>
            <a:r>
              <a:rPr lang="en" sz="1300"/>
              <a:t>𝙆 = 64</a:t>
            </a:r>
            <a:r>
              <a:rPr lang="en" sz="1300"/>
              <a:t>) to store the palette</a:t>
            </a:r>
            <a:endParaRPr sz="1300"/>
          </a:p>
          <a:p>
            <a:pPr indent="-311150" lvl="1" marL="914400" rtl="0" algn="l">
              <a:spcBef>
                <a:spcPts val="0"/>
              </a:spcBef>
              <a:spcAft>
                <a:spcPts val="0"/>
              </a:spcAft>
              <a:buSzPts val="1300"/>
              <a:buChar char="○"/>
            </a:pPr>
            <a:r>
              <a:rPr lang="en" sz="1300"/>
              <a:t>Conventional</a:t>
            </a:r>
            <a:r>
              <a:rPr lang="en" sz="1300"/>
              <a:t> Formats (i.e. .png)</a:t>
            </a:r>
            <a:endParaRPr sz="1300"/>
          </a:p>
          <a:p>
            <a:pPr indent="-311150" lvl="2" marL="1371600" rtl="0" algn="l">
              <a:spcBef>
                <a:spcPts val="0"/>
              </a:spcBef>
              <a:spcAft>
                <a:spcPts val="0"/>
              </a:spcAft>
              <a:buSzPts val="1300"/>
              <a:buChar char="■"/>
            </a:pPr>
            <a:r>
              <a:rPr lang="en" sz="1300"/>
              <a:t>Example: 1920x1080 image</a:t>
            </a:r>
            <a:endParaRPr sz="1300"/>
          </a:p>
          <a:p>
            <a:pPr indent="-311150" lvl="3" marL="1828800" rtl="0" algn="l">
              <a:spcBef>
                <a:spcPts val="0"/>
              </a:spcBef>
              <a:spcAft>
                <a:spcPts val="0"/>
              </a:spcAft>
              <a:buSzPts val="1300"/>
              <a:buChar char="●"/>
            </a:pPr>
            <a:r>
              <a:rPr lang="en" sz="1300"/>
              <a:t>Uncompressed: 5.93 MiB</a:t>
            </a:r>
            <a:endParaRPr sz="1300"/>
          </a:p>
          <a:p>
            <a:pPr indent="-311150" lvl="3" marL="1828800" rtl="0" algn="l">
              <a:spcBef>
                <a:spcPts val="0"/>
              </a:spcBef>
              <a:spcAft>
                <a:spcPts val="0"/>
              </a:spcAft>
              <a:buSzPts val="1300"/>
              <a:buChar char="●"/>
            </a:pPr>
            <a:r>
              <a:rPr lang="en" sz="1300"/>
              <a:t>Quantized: 1.48 MiB</a:t>
            </a:r>
            <a:endParaRPr sz="1300"/>
          </a:p>
          <a:p>
            <a:pPr indent="-311150" lvl="2" marL="1371600" rtl="0" algn="l">
              <a:spcBef>
                <a:spcPts val="0"/>
              </a:spcBef>
              <a:spcAft>
                <a:spcPts val="0"/>
              </a:spcAft>
              <a:buSzPts val="1300"/>
              <a:buChar char="■"/>
            </a:pPr>
            <a:r>
              <a:rPr lang="en" sz="1300"/>
              <a:t>CQ can help reduce size of .png, .jpg, etc. since these formats often compress repeat colors automatically (.png uses DEFLATE -&gt; LZSS)</a:t>
            </a:r>
            <a:endParaRPr sz="1300"/>
          </a:p>
          <a:p>
            <a:pPr indent="-311150" lvl="2" marL="1371600" rtl="0" algn="l">
              <a:spcBef>
                <a:spcPts val="0"/>
              </a:spcBef>
              <a:spcAft>
                <a:spcPts val="0"/>
              </a:spcAft>
              <a:buSzPts val="1300"/>
              <a:buChar char="■"/>
            </a:pPr>
            <a:r>
              <a:rPr lang="en" sz="1300"/>
              <a:t>Content retrieval - individuals with low bandwidth internet can more </a:t>
            </a:r>
            <a:r>
              <a:rPr lang="en" sz="1300"/>
              <a:t>easily enter the digital world if basic function of the internet are optimized for low bandwidth clients</a:t>
            </a:r>
            <a:endParaRPr sz="1300"/>
          </a:p>
        </p:txBody>
      </p:sp>
      <p:pic>
        <p:nvPicPr>
          <p:cNvPr id="113" name="Google Shape;113;p15"/>
          <p:cNvPicPr preferRelativeResize="0"/>
          <p:nvPr/>
        </p:nvPicPr>
        <p:blipFill>
          <a:blip r:embed="rId3">
            <a:alphaModFix/>
          </a:blip>
          <a:stretch>
            <a:fillRect/>
          </a:stretch>
        </p:blipFill>
        <p:spPr>
          <a:xfrm>
            <a:off x="4954938" y="80150"/>
            <a:ext cx="1503903" cy="1622600"/>
          </a:xfrm>
          <a:prstGeom prst="rect">
            <a:avLst/>
          </a:prstGeom>
          <a:noFill/>
          <a:ln>
            <a:noFill/>
          </a:ln>
        </p:spPr>
      </p:pic>
      <p:pic>
        <p:nvPicPr>
          <p:cNvPr id="114" name="Google Shape;114;p15"/>
          <p:cNvPicPr preferRelativeResize="0"/>
          <p:nvPr/>
        </p:nvPicPr>
        <p:blipFill>
          <a:blip r:embed="rId4">
            <a:alphaModFix/>
          </a:blip>
          <a:stretch>
            <a:fillRect/>
          </a:stretch>
        </p:blipFill>
        <p:spPr>
          <a:xfrm>
            <a:off x="7140547" y="80150"/>
            <a:ext cx="1503903" cy="1622600"/>
          </a:xfrm>
          <a:prstGeom prst="rect">
            <a:avLst/>
          </a:prstGeom>
          <a:noFill/>
          <a:ln>
            <a:noFill/>
          </a:ln>
        </p:spPr>
      </p:pic>
      <p:sp>
        <p:nvSpPr>
          <p:cNvPr id="115" name="Google Shape;115;p15"/>
          <p:cNvSpPr txBox="1"/>
          <p:nvPr/>
        </p:nvSpPr>
        <p:spPr>
          <a:xfrm>
            <a:off x="4954925" y="1702750"/>
            <a:ext cx="1503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accent1"/>
                </a:solidFill>
                <a:latin typeface="Lato"/>
                <a:ea typeface="Lato"/>
                <a:cs typeface="Lato"/>
                <a:sym typeface="Lato"/>
              </a:rPr>
              <a:t>Original .png Image:</a:t>
            </a:r>
            <a:endParaRPr sz="1000">
              <a:solidFill>
                <a:schemeClr val="accent1"/>
              </a:solidFill>
              <a:latin typeface="Lato"/>
              <a:ea typeface="Lato"/>
              <a:cs typeface="Lato"/>
              <a:sym typeface="Lato"/>
            </a:endParaRPr>
          </a:p>
          <a:p>
            <a:pPr indent="0" lvl="0" marL="0" rtl="0" algn="ctr">
              <a:spcBef>
                <a:spcPts val="0"/>
              </a:spcBef>
              <a:spcAft>
                <a:spcPts val="0"/>
              </a:spcAft>
              <a:buNone/>
            </a:pPr>
            <a:r>
              <a:rPr lang="en" sz="1000">
                <a:solidFill>
                  <a:schemeClr val="accent1"/>
                </a:solidFill>
                <a:latin typeface="Lato"/>
                <a:ea typeface="Lato"/>
                <a:cs typeface="Lato"/>
                <a:sym typeface="Lato"/>
              </a:rPr>
              <a:t>88.22 KiB</a:t>
            </a:r>
            <a:endParaRPr sz="1000">
              <a:solidFill>
                <a:schemeClr val="accent1"/>
              </a:solidFill>
              <a:latin typeface="Lato"/>
              <a:ea typeface="Lato"/>
              <a:cs typeface="Lato"/>
              <a:sym typeface="Lato"/>
            </a:endParaRPr>
          </a:p>
        </p:txBody>
      </p:sp>
      <p:sp>
        <p:nvSpPr>
          <p:cNvPr id="116" name="Google Shape;116;p15"/>
          <p:cNvSpPr txBox="1"/>
          <p:nvPr/>
        </p:nvSpPr>
        <p:spPr>
          <a:xfrm>
            <a:off x="7140541" y="1702750"/>
            <a:ext cx="1503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accent1"/>
                </a:solidFill>
                <a:latin typeface="Lato"/>
                <a:ea typeface="Lato"/>
                <a:cs typeface="Lato"/>
                <a:sym typeface="Lato"/>
              </a:rPr>
              <a:t>Quantized .png</a:t>
            </a:r>
            <a:r>
              <a:rPr lang="en" sz="1000">
                <a:solidFill>
                  <a:schemeClr val="accent1"/>
                </a:solidFill>
                <a:latin typeface="Lato"/>
                <a:ea typeface="Lato"/>
                <a:cs typeface="Lato"/>
                <a:sym typeface="Lato"/>
              </a:rPr>
              <a:t> Image:</a:t>
            </a:r>
            <a:endParaRPr sz="1000">
              <a:solidFill>
                <a:schemeClr val="accent1"/>
              </a:solidFill>
              <a:latin typeface="Lato"/>
              <a:ea typeface="Lato"/>
              <a:cs typeface="Lato"/>
              <a:sym typeface="Lato"/>
            </a:endParaRPr>
          </a:p>
          <a:p>
            <a:pPr indent="0" lvl="0" marL="0" rtl="0" algn="ctr">
              <a:spcBef>
                <a:spcPts val="0"/>
              </a:spcBef>
              <a:spcAft>
                <a:spcPts val="0"/>
              </a:spcAft>
              <a:buNone/>
            </a:pPr>
            <a:r>
              <a:rPr lang="en" sz="1000">
                <a:solidFill>
                  <a:schemeClr val="accent1"/>
                </a:solidFill>
                <a:latin typeface="Lato"/>
                <a:ea typeface="Lato"/>
                <a:cs typeface="Lato"/>
                <a:sym typeface="Lato"/>
              </a:rPr>
              <a:t>23.94 KiB</a:t>
            </a:r>
            <a:endParaRPr sz="1000">
              <a:solidFill>
                <a:schemeClr val="accent1"/>
              </a:solidFill>
              <a:latin typeface="Lato"/>
              <a:ea typeface="Lato"/>
              <a:cs typeface="Lato"/>
              <a:sym typeface="Lato"/>
            </a:endParaRPr>
          </a:p>
        </p:txBody>
      </p:sp>
      <p:sp>
        <p:nvSpPr>
          <p:cNvPr id="117" name="Google Shape;117;p15"/>
          <p:cNvSpPr txBox="1"/>
          <p:nvPr/>
        </p:nvSpPr>
        <p:spPr>
          <a:xfrm>
            <a:off x="0" y="4735150"/>
            <a:ext cx="6257400" cy="16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500"/>
              <a:t>B. Zhou, A. Lapedriza, J. Xiao, A. Torralba, and A. Oliva. “Learning Deep Features for Scene Recognition using Places Database.” Advances in Neural Information Processing Systems 27 (NIPS), 2014.</a:t>
            </a:r>
            <a:endParaRPr sz="500"/>
          </a:p>
          <a:p>
            <a:pPr indent="0" lvl="0" marL="0" rtl="0" algn="l">
              <a:lnSpc>
                <a:spcPct val="100000"/>
              </a:lnSpc>
              <a:spcBef>
                <a:spcPts val="0"/>
              </a:spcBef>
              <a:spcAft>
                <a:spcPts val="0"/>
              </a:spcAft>
              <a:buNone/>
            </a:pPr>
            <a:r>
              <a:rPr lang="en" sz="500"/>
              <a:t>Storer, James A., and Thomas G. Szymanski. “Data Compression via Textual Substitution.” Journal of the ACM, vol. 29, no. 4, 1982, pp. 928–951., doi:10.1145/322344.322346., Fenwick, Sam, and Hardik Khatri. n.d., </a:t>
            </a:r>
            <a:r>
              <a:rPr i="1" lang="en" sz="500"/>
              <a:t>The State of Mobile Network Experience 2020: One Year Into the 5G Era., B. Zhou, A. Lapedriza, J. Xiao, A. Torralba, and A. Oliva. Learning Deep Features for Scene Recognition using Places Database. Advances in Neural Information Processing Systems 27 (NIPS), 2014.</a:t>
            </a:r>
            <a:endParaRPr i="1" sz="500"/>
          </a:p>
          <a:p>
            <a:pPr indent="0" lvl="0" marL="0" rtl="0" algn="l">
              <a:lnSpc>
                <a:spcPct val="100000"/>
              </a:lnSpc>
              <a:spcBef>
                <a:spcPts val="0"/>
              </a:spcBef>
              <a:spcAft>
                <a:spcPts val="0"/>
              </a:spcAft>
              <a:buNone/>
            </a:pPr>
            <a:r>
              <a:t/>
            </a:r>
            <a:endParaRPr sz="500"/>
          </a:p>
          <a:p>
            <a:pPr indent="0" lvl="0" marL="0" rtl="0" algn="l">
              <a:lnSpc>
                <a:spcPct val="100000"/>
              </a:lnSpc>
              <a:spcBef>
                <a:spcPts val="0"/>
              </a:spcBef>
              <a:spcAft>
                <a:spcPts val="0"/>
              </a:spcAft>
              <a:buNone/>
            </a:pPr>
            <a:r>
              <a:t/>
            </a:r>
            <a:endParaRPr sz="500"/>
          </a:p>
          <a:p>
            <a:pPr indent="0" lvl="0" marL="0" rtl="0" algn="l">
              <a:spcBef>
                <a:spcPts val="0"/>
              </a:spcBef>
              <a:spcAft>
                <a:spcPts val="0"/>
              </a:spcAft>
              <a:buNone/>
            </a:pPr>
            <a:r>
              <a:t/>
            </a:r>
            <a:endParaRPr sz="100">
              <a:latin typeface="Lato"/>
              <a:ea typeface="Lato"/>
              <a:cs typeface="Lato"/>
              <a:sym typeface="Lato"/>
            </a:endParaRPr>
          </a:p>
        </p:txBody>
      </p:sp>
      <p:sp>
        <p:nvSpPr>
          <p:cNvPr id="118" name="Google Shape;118;p15"/>
          <p:cNvSpPr/>
          <p:nvPr/>
        </p:nvSpPr>
        <p:spPr>
          <a:xfrm rot="-5400000">
            <a:off x="6750638" y="740700"/>
            <a:ext cx="98100" cy="3015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5" title="Chart"/>
          <p:cNvPicPr preferRelativeResize="0"/>
          <p:nvPr/>
        </p:nvPicPr>
        <p:blipFill>
          <a:blip r:embed="rId5">
            <a:alphaModFix/>
          </a:blip>
          <a:stretch>
            <a:fillRect/>
          </a:stretch>
        </p:blipFill>
        <p:spPr>
          <a:xfrm>
            <a:off x="6187875" y="2731425"/>
            <a:ext cx="2956126" cy="24252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6"/>
          <p:cNvSpPr txBox="1"/>
          <p:nvPr>
            <p:ph type="title"/>
          </p:nvPr>
        </p:nvSpPr>
        <p:spPr>
          <a:xfrm>
            <a:off x="272250" y="-34381"/>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Original</a:t>
            </a:r>
            <a:r>
              <a:rPr lang="en"/>
              <a:t> method: K-Means Clustering</a:t>
            </a:r>
            <a:endParaRPr/>
          </a:p>
        </p:txBody>
      </p:sp>
      <p:sp>
        <p:nvSpPr>
          <p:cNvPr id="125" name="Google Shape;125;p16"/>
          <p:cNvSpPr/>
          <p:nvPr/>
        </p:nvSpPr>
        <p:spPr>
          <a:xfrm>
            <a:off x="798450" y="1132700"/>
            <a:ext cx="807600" cy="152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txBox="1"/>
          <p:nvPr>
            <p:ph idx="1" type="body"/>
          </p:nvPr>
        </p:nvSpPr>
        <p:spPr>
          <a:xfrm>
            <a:off x="272250" y="554875"/>
            <a:ext cx="7688700" cy="18036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400"/>
              <a:t>Finds     </a:t>
            </a:r>
            <a:r>
              <a:rPr lang="en" sz="800"/>
              <a:t> </a:t>
            </a:r>
            <a:r>
              <a:rPr lang="en" sz="1400"/>
              <a:t>clusters (      ) to best represent the set of colors,      (                 )</a:t>
            </a:r>
            <a:endParaRPr sz="1400"/>
          </a:p>
          <a:p>
            <a:pPr indent="-317500" lvl="0" marL="914400" rtl="0" algn="l">
              <a:spcBef>
                <a:spcPts val="0"/>
              </a:spcBef>
              <a:spcAft>
                <a:spcPts val="0"/>
              </a:spcAft>
              <a:buSzPts val="1400"/>
              <a:buAutoNum type="arabicParenR"/>
            </a:pPr>
            <a:r>
              <a:rPr lang="en" sz="1400"/>
              <a:t>Create </a:t>
            </a:r>
            <a:r>
              <a:rPr b="1" i="1" lang="en" sz="1400"/>
              <a:t>random</a:t>
            </a:r>
            <a:r>
              <a:rPr lang="en" sz="1400"/>
              <a:t> initial palette: </a:t>
            </a:r>
            <a:endParaRPr sz="1400"/>
          </a:p>
          <a:p>
            <a:pPr indent="-317500" lvl="0" marL="914400" rtl="0" algn="l">
              <a:spcBef>
                <a:spcPts val="0"/>
              </a:spcBef>
              <a:spcAft>
                <a:spcPts val="0"/>
              </a:spcAft>
              <a:buSzPts val="1400"/>
              <a:buAutoNum type="arabicParenR"/>
            </a:pPr>
            <a:r>
              <a:rPr lang="en" sz="1400"/>
              <a:t>Map all pixels to closest color in the palette: </a:t>
            </a:r>
            <a:endParaRPr sz="1400"/>
          </a:p>
          <a:p>
            <a:pPr indent="-317500" lvl="0" marL="914400" rtl="0" algn="l">
              <a:spcBef>
                <a:spcPts val="0"/>
              </a:spcBef>
              <a:spcAft>
                <a:spcPts val="0"/>
              </a:spcAft>
              <a:buSzPts val="1400"/>
              <a:buAutoNum type="arabicParenR"/>
            </a:pPr>
            <a:r>
              <a:rPr lang="en" sz="1400"/>
              <a:t>Recalculate each color in the palette to the average of the corresponding pixels:</a:t>
            </a:r>
            <a:endParaRPr sz="1400"/>
          </a:p>
          <a:p>
            <a:pPr indent="-317500" lvl="0" marL="914400" rtl="0" algn="l">
              <a:spcBef>
                <a:spcPts val="0"/>
              </a:spcBef>
              <a:spcAft>
                <a:spcPts val="0"/>
              </a:spcAft>
              <a:buSzPts val="1400"/>
              <a:buAutoNum type="arabicParenR"/>
            </a:pPr>
            <a:r>
              <a:rPr lang="en" sz="1400"/>
              <a:t>Repeat steps 2 and 3 until palette stops changing</a:t>
            </a:r>
            <a:endParaRPr sz="1400"/>
          </a:p>
        </p:txBody>
      </p:sp>
      <p:pic>
        <p:nvPicPr>
          <p:cNvPr descr="&lt;math xmlns=&quot;http://www.w3.org/1998/Math/MathML&quot; display=&quot;block&quot; data-is-equatio=&quot;1&quot; data-latex=&quot;c_i=\ \arg\min_j\left(x_i-\mu_j\right)&quot;&gt;&lt;msub&gt;&lt;mi&gt;c&lt;/mi&gt;&lt;mi&gt;i&lt;/mi&gt;&lt;/msub&gt;&lt;mo&gt;=&lt;/mo&gt;&lt;mtext&gt;&lt;/mtext&gt;&lt;mi&gt;arg&lt;/mi&gt;&lt;mo data-mjx-texclass=&quot;NONE&quot;&gt;⁡&lt;/mo&gt;&lt;munder&gt;&lt;mo data-mjx-texclass=&quot;OP&quot; movablelimits=&quot;true&quot;&gt;min&lt;/mo&gt;&lt;mi&gt;j&lt;/mi&gt;&lt;/munder&gt;&lt;mrow data-mjx-texclass=&quot;INNER&quot;&gt;&lt;mo data-mjx-texclass=&quot;OPEN&quot;&gt;(&lt;/mo&gt;&lt;msub&gt;&lt;mi&gt;x&lt;/mi&gt;&lt;mi&gt;i&lt;/mi&gt;&lt;/msub&gt;&lt;mo&gt;−&lt;/mo&gt;&lt;msub&gt;&lt;mi&gt;μ&lt;/mi&gt;&lt;mi&gt;j&lt;/mi&gt;&lt;/msub&gt;&lt;mo data-mjx-texclass=&quot;CLOSE&quot;&gt;)&lt;/mo&gt;&lt;/mrow&gt;&lt;/math&gt;" id="127" name="Google Shape;127;p16" title="c sub i equals the arg of min over j of open paren x sub i minus mu sub j close paren"/>
          <p:cNvPicPr preferRelativeResize="0"/>
          <p:nvPr/>
        </p:nvPicPr>
        <p:blipFill>
          <a:blip r:embed="rId3">
            <a:alphaModFix/>
          </a:blip>
          <a:stretch>
            <a:fillRect/>
          </a:stretch>
        </p:blipFill>
        <p:spPr>
          <a:xfrm>
            <a:off x="4694630" y="1104620"/>
            <a:ext cx="1809750" cy="323850"/>
          </a:xfrm>
          <a:prstGeom prst="rect">
            <a:avLst/>
          </a:prstGeom>
          <a:noFill/>
          <a:ln>
            <a:noFill/>
          </a:ln>
        </p:spPr>
      </p:pic>
      <p:pic>
        <p:nvPicPr>
          <p:cNvPr descr="&lt;math xmlns=&quot;http://www.w3.org/1998/Math/MathML&quot; display=&quot;block&quot; data-is-equatio=&quot;1&quot; data-latex=&quot;\mu_j=\frac{\sum_{i=1}^mx_i}{m}&amp;#10;\text{ for m = # of pixels in cluster }j&quot;&gt;&lt;msub&gt;&lt;mi&gt;μ&lt;/mi&gt;&lt;mi&gt;j&lt;/mi&gt;&lt;/msub&gt;&lt;mo&gt;=&lt;/mo&gt;&lt;mfrac&gt;&lt;mrow&gt;&lt;munderover&gt;&lt;mo data-mjx-texclass=&quot;OP&quot;&gt;∑&lt;/mo&gt;&lt;mrow&gt;&lt;mi&gt;i&lt;/mi&gt;&lt;mo&gt;=&lt;/mo&gt;&lt;mn&gt;1&lt;/mn&gt;&lt;/mrow&gt;&lt;mi&gt;m&lt;/mi&gt;&lt;/munderover&gt;&lt;msub&gt;&lt;mi&gt;x&lt;/mi&gt;&lt;mi&gt;i&lt;/mi&gt;&lt;/msub&gt;&lt;/mrow&gt;&lt;mi&gt;m&lt;/mi&gt;&lt;/mfrac&gt;&lt;mtext&gt; for m = # of pixels in cluster &lt;/mtext&gt;&lt;mi&gt;j&lt;/mi&gt;&lt;/math&gt;" id="128" name="Google Shape;128;p16" title="mu sub j equals the fraction with numerator the sum from i equals 1 to m of x sub i and denominator m for m equals number sign of pixels in cluster j"/>
          <p:cNvPicPr preferRelativeResize="0"/>
          <p:nvPr/>
        </p:nvPicPr>
        <p:blipFill>
          <a:blip r:embed="rId4">
            <a:alphaModFix/>
          </a:blip>
          <a:stretch>
            <a:fillRect/>
          </a:stretch>
        </p:blipFill>
        <p:spPr>
          <a:xfrm>
            <a:off x="1297971" y="1873221"/>
            <a:ext cx="3375350" cy="438805"/>
          </a:xfrm>
          <a:prstGeom prst="rect">
            <a:avLst/>
          </a:prstGeom>
          <a:noFill/>
          <a:ln>
            <a:noFill/>
          </a:ln>
        </p:spPr>
      </p:pic>
      <p:pic>
        <p:nvPicPr>
          <p:cNvPr descr="&lt;math xmlns=&quot;http://www.w3.org/1998/Math/MathML&quot; display=&quot;block&quot; data-is-equatio=&quot;1&quot; data-latex=&quot;\mu_1,\ \mu_2,\ \mu_3,\ ...\ \mu_k\in x&quot;&gt;&lt;msub&gt;&lt;mi&gt;μ&lt;/mi&gt;&lt;mn&gt;1&lt;/mn&gt;&lt;/msub&gt;&lt;mo&gt;,&lt;/mo&gt;&lt;mtext&gt;&lt;/mtext&gt;&lt;msub&gt;&lt;mi&gt;μ&lt;/mi&gt;&lt;mn&gt;2&lt;/mn&gt;&lt;/msub&gt;&lt;mo&gt;,&lt;/mo&gt;&lt;mtext&gt;&lt;/mtext&gt;&lt;msub&gt;&lt;mi&gt;μ&lt;/mi&gt;&lt;mn&gt;3&lt;/mn&gt;&lt;/msub&gt;&lt;mo&gt;,&lt;/mo&gt;&lt;mtext&gt;&lt;/mtext&gt;&lt;mo&gt;.&lt;/mo&gt;&lt;mo&gt;.&lt;/mo&gt;&lt;mo&gt;.&lt;/mo&gt;&lt;mtext&gt;&lt;/mtext&gt;&lt;msub&gt;&lt;mi&gt;μ&lt;/mi&gt;&lt;mi&gt;k&lt;/mi&gt;&lt;/msub&gt;&lt;mo&gt;∈&lt;/mo&gt;&lt;mi&gt;x&lt;/mi&gt;&lt;/math&gt;" id="129" name="Google Shape;129;p16" title="mu sub 1 comma mu sub 2 comma mu sub 3 comma period period period mu sub k is a. member of x"/>
          <p:cNvPicPr preferRelativeResize="0"/>
          <p:nvPr/>
        </p:nvPicPr>
        <p:blipFill>
          <a:blip r:embed="rId5">
            <a:alphaModFix/>
          </a:blip>
          <a:stretch>
            <a:fillRect/>
          </a:stretch>
        </p:blipFill>
        <p:spPr>
          <a:xfrm>
            <a:off x="3605254" y="931170"/>
            <a:ext cx="1914525" cy="152400"/>
          </a:xfrm>
          <a:prstGeom prst="rect">
            <a:avLst/>
          </a:prstGeom>
          <a:noFill/>
          <a:ln>
            <a:noFill/>
          </a:ln>
        </p:spPr>
      </p:pic>
      <p:pic>
        <p:nvPicPr>
          <p:cNvPr descr="&lt;math xmlns=&quot;http://www.w3.org/1998/Math/MathML&quot; display=&quot;block&quot; data-is-equatio=&quot;1&quot; data-latex=&quot;k&quot;&gt;&lt;mi&gt;k&lt;/mi&gt;&lt;/math&gt;" id="130" name="Google Shape;130;p16" title="k"/>
          <p:cNvPicPr preferRelativeResize="0"/>
          <p:nvPr/>
        </p:nvPicPr>
        <p:blipFill>
          <a:blip r:embed="rId6">
            <a:alphaModFix/>
          </a:blip>
          <a:stretch>
            <a:fillRect/>
          </a:stretch>
        </p:blipFill>
        <p:spPr>
          <a:xfrm>
            <a:off x="1283985" y="660460"/>
            <a:ext cx="116122" cy="152400"/>
          </a:xfrm>
          <a:prstGeom prst="rect">
            <a:avLst/>
          </a:prstGeom>
          <a:noFill/>
          <a:ln>
            <a:noFill/>
          </a:ln>
        </p:spPr>
      </p:pic>
      <p:pic>
        <p:nvPicPr>
          <p:cNvPr descr="&lt;math xmlns=&quot;http://www.w3.org/1998/Math/MathML&quot; display=&quot;block&quot; data-is-equatio=&quot;1&quot; data-latex=&quot;x&amp;#10;&quot;&gt;&lt;mi&gt;x&lt;/mi&gt;&lt;/math&gt;" id="131" name="Google Shape;131;p16" title="x"/>
          <p:cNvPicPr preferRelativeResize="0"/>
          <p:nvPr/>
        </p:nvPicPr>
        <p:blipFill>
          <a:blip r:embed="rId7">
            <a:alphaModFix/>
          </a:blip>
          <a:stretch>
            <a:fillRect/>
          </a:stretch>
        </p:blipFill>
        <p:spPr>
          <a:xfrm>
            <a:off x="5287171" y="699884"/>
            <a:ext cx="114300" cy="95250"/>
          </a:xfrm>
          <a:prstGeom prst="rect">
            <a:avLst/>
          </a:prstGeom>
          <a:noFill/>
          <a:ln>
            <a:noFill/>
          </a:ln>
        </p:spPr>
      </p:pic>
      <p:pic>
        <p:nvPicPr>
          <p:cNvPr id="132" name="Google Shape;132;p16"/>
          <p:cNvPicPr preferRelativeResize="0"/>
          <p:nvPr/>
        </p:nvPicPr>
        <p:blipFill>
          <a:blip r:embed="rId8">
            <a:alphaModFix/>
          </a:blip>
          <a:stretch>
            <a:fillRect/>
          </a:stretch>
        </p:blipFill>
        <p:spPr>
          <a:xfrm>
            <a:off x="2227820" y="711959"/>
            <a:ext cx="190500" cy="171450"/>
          </a:xfrm>
          <a:prstGeom prst="rect">
            <a:avLst/>
          </a:prstGeom>
          <a:noFill/>
          <a:ln>
            <a:noFill/>
          </a:ln>
        </p:spPr>
      </p:pic>
      <p:pic>
        <p:nvPicPr>
          <p:cNvPr descr="&lt;math xmlns=&quot;http://www.w3.org/1998/Math/MathML&quot; display=&quot;block&quot; data-is-equatio=&quot;1&quot; data-latex=&quot;c_i\in\mu&quot;&gt;&lt;msub&gt;&lt;mi&gt;c&lt;/mi&gt;&lt;mi&gt;i&lt;/mi&gt;&lt;/msub&gt;&lt;mo&gt;∈&lt;/mo&gt;&lt;mi&gt;μ&lt;/mi&gt;&lt;/math&gt;" id="133" name="Google Shape;133;p16" title="c sub i is a. member of mu"/>
          <p:cNvPicPr preferRelativeResize="0"/>
          <p:nvPr/>
        </p:nvPicPr>
        <p:blipFill>
          <a:blip r:embed="rId9">
            <a:alphaModFix/>
          </a:blip>
          <a:stretch>
            <a:fillRect/>
          </a:stretch>
        </p:blipFill>
        <p:spPr>
          <a:xfrm>
            <a:off x="5634589" y="671310"/>
            <a:ext cx="514350" cy="152400"/>
          </a:xfrm>
          <a:prstGeom prst="rect">
            <a:avLst/>
          </a:prstGeom>
          <a:noFill/>
          <a:ln>
            <a:noFill/>
          </a:ln>
        </p:spPr>
      </p:pic>
      <p:grpSp>
        <p:nvGrpSpPr>
          <p:cNvPr id="134" name="Google Shape;134;p16"/>
          <p:cNvGrpSpPr/>
          <p:nvPr/>
        </p:nvGrpSpPr>
        <p:grpSpPr>
          <a:xfrm>
            <a:off x="343497" y="1901277"/>
            <a:ext cx="8457012" cy="2053038"/>
            <a:chOff x="176925" y="2842177"/>
            <a:chExt cx="8790159" cy="2232534"/>
          </a:xfrm>
        </p:grpSpPr>
        <p:grpSp>
          <p:nvGrpSpPr>
            <p:cNvPr id="135" name="Google Shape;135;p16"/>
            <p:cNvGrpSpPr/>
            <p:nvPr/>
          </p:nvGrpSpPr>
          <p:grpSpPr>
            <a:xfrm>
              <a:off x="176925" y="3296537"/>
              <a:ext cx="8790159" cy="1778173"/>
              <a:chOff x="116125" y="3203675"/>
              <a:chExt cx="8790159" cy="1778173"/>
            </a:xfrm>
          </p:grpSpPr>
          <p:pic>
            <p:nvPicPr>
              <p:cNvPr id="136" name="Google Shape;136;p16"/>
              <p:cNvPicPr preferRelativeResize="0"/>
              <p:nvPr/>
            </p:nvPicPr>
            <p:blipFill>
              <a:blip r:embed="rId10">
                <a:alphaModFix/>
              </a:blip>
              <a:stretch>
                <a:fillRect/>
              </a:stretch>
            </p:blipFill>
            <p:spPr>
              <a:xfrm>
                <a:off x="1606050" y="3545950"/>
                <a:ext cx="1914525" cy="1435898"/>
              </a:xfrm>
              <a:prstGeom prst="rect">
                <a:avLst/>
              </a:prstGeom>
              <a:noFill/>
              <a:ln>
                <a:noFill/>
              </a:ln>
            </p:spPr>
          </p:pic>
          <p:pic>
            <p:nvPicPr>
              <p:cNvPr id="137" name="Google Shape;137;p16"/>
              <p:cNvPicPr preferRelativeResize="0"/>
              <p:nvPr/>
            </p:nvPicPr>
            <p:blipFill>
              <a:blip r:embed="rId11">
                <a:alphaModFix/>
              </a:blip>
              <a:stretch>
                <a:fillRect/>
              </a:stretch>
            </p:blipFill>
            <p:spPr>
              <a:xfrm>
                <a:off x="3570925" y="3545938"/>
                <a:ext cx="1914525" cy="1435889"/>
              </a:xfrm>
              <a:prstGeom prst="rect">
                <a:avLst/>
              </a:prstGeom>
              <a:noFill/>
              <a:ln>
                <a:noFill/>
              </a:ln>
            </p:spPr>
          </p:pic>
          <p:pic>
            <p:nvPicPr>
              <p:cNvPr id="138" name="Google Shape;138;p16"/>
              <p:cNvPicPr preferRelativeResize="0"/>
              <p:nvPr/>
            </p:nvPicPr>
            <p:blipFill rotWithShape="1">
              <a:blip r:embed="rId12">
                <a:alphaModFix/>
              </a:blip>
              <a:srcRect b="7558" l="15890" r="14746" t="3938"/>
              <a:stretch/>
            </p:blipFill>
            <p:spPr>
              <a:xfrm>
                <a:off x="7630650" y="3603875"/>
                <a:ext cx="1275634" cy="1220774"/>
              </a:xfrm>
              <a:prstGeom prst="rect">
                <a:avLst/>
              </a:prstGeom>
              <a:noFill/>
              <a:ln>
                <a:noFill/>
              </a:ln>
            </p:spPr>
          </p:pic>
          <p:pic>
            <p:nvPicPr>
              <p:cNvPr id="139" name="Google Shape;139;p16"/>
              <p:cNvPicPr preferRelativeResize="0"/>
              <p:nvPr/>
            </p:nvPicPr>
            <p:blipFill>
              <a:blip r:embed="rId13">
                <a:alphaModFix/>
              </a:blip>
              <a:stretch>
                <a:fillRect/>
              </a:stretch>
            </p:blipFill>
            <p:spPr>
              <a:xfrm>
                <a:off x="116125" y="3603873"/>
                <a:ext cx="1245675" cy="1220772"/>
              </a:xfrm>
              <a:prstGeom prst="rect">
                <a:avLst/>
              </a:prstGeom>
              <a:noFill/>
              <a:ln>
                <a:noFill/>
              </a:ln>
            </p:spPr>
          </p:pic>
          <p:pic>
            <p:nvPicPr>
              <p:cNvPr id="140" name="Google Shape;140;p16"/>
              <p:cNvPicPr preferRelativeResize="0"/>
              <p:nvPr/>
            </p:nvPicPr>
            <p:blipFill>
              <a:blip r:embed="rId11">
                <a:alphaModFix/>
              </a:blip>
              <a:stretch>
                <a:fillRect/>
              </a:stretch>
            </p:blipFill>
            <p:spPr>
              <a:xfrm>
                <a:off x="5513200" y="3545950"/>
                <a:ext cx="1914525" cy="1435889"/>
              </a:xfrm>
              <a:prstGeom prst="rect">
                <a:avLst/>
              </a:prstGeom>
              <a:noFill/>
              <a:ln>
                <a:noFill/>
              </a:ln>
            </p:spPr>
          </p:pic>
          <p:sp>
            <p:nvSpPr>
              <p:cNvPr id="141" name="Google Shape;141;p16"/>
              <p:cNvSpPr txBox="1"/>
              <p:nvPr/>
            </p:nvSpPr>
            <p:spPr>
              <a:xfrm>
                <a:off x="176463" y="3203675"/>
                <a:ext cx="1125000" cy="435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Lato"/>
                    <a:ea typeface="Lato"/>
                    <a:cs typeface="Lato"/>
                    <a:sym typeface="Lato"/>
                  </a:rPr>
                  <a:t>Input</a:t>
                </a:r>
                <a:endParaRPr>
                  <a:latin typeface="Lato"/>
                  <a:ea typeface="Lato"/>
                  <a:cs typeface="Lato"/>
                  <a:sym typeface="Lato"/>
                </a:endParaRPr>
              </a:p>
            </p:txBody>
          </p:sp>
          <p:sp>
            <p:nvSpPr>
              <p:cNvPr id="142" name="Google Shape;142;p16"/>
              <p:cNvSpPr txBox="1"/>
              <p:nvPr/>
            </p:nvSpPr>
            <p:spPr>
              <a:xfrm>
                <a:off x="2081463" y="3203675"/>
                <a:ext cx="1125000" cy="435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Lato"/>
                    <a:ea typeface="Lato"/>
                    <a:cs typeface="Lato"/>
                    <a:sym typeface="Lato"/>
                  </a:rPr>
                  <a:t>1)</a:t>
                </a:r>
                <a:endParaRPr>
                  <a:latin typeface="Lato"/>
                  <a:ea typeface="Lato"/>
                  <a:cs typeface="Lato"/>
                  <a:sym typeface="Lato"/>
                </a:endParaRPr>
              </a:p>
            </p:txBody>
          </p:sp>
          <p:sp>
            <p:nvSpPr>
              <p:cNvPr id="143" name="Google Shape;143;p16"/>
              <p:cNvSpPr txBox="1"/>
              <p:nvPr/>
            </p:nvSpPr>
            <p:spPr>
              <a:xfrm>
                <a:off x="4032884" y="3203675"/>
                <a:ext cx="1125000" cy="435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Lato"/>
                    <a:ea typeface="Lato"/>
                    <a:cs typeface="Lato"/>
                    <a:sym typeface="Lato"/>
                  </a:rPr>
                  <a:t>2</a:t>
                </a:r>
                <a:r>
                  <a:rPr lang="en">
                    <a:latin typeface="Lato"/>
                    <a:ea typeface="Lato"/>
                    <a:cs typeface="Lato"/>
                    <a:sym typeface="Lato"/>
                  </a:rPr>
                  <a:t>)</a:t>
                </a:r>
                <a:endParaRPr>
                  <a:latin typeface="Lato"/>
                  <a:ea typeface="Lato"/>
                  <a:cs typeface="Lato"/>
                  <a:sym typeface="Lato"/>
                </a:endParaRPr>
              </a:p>
            </p:txBody>
          </p:sp>
          <p:sp>
            <p:nvSpPr>
              <p:cNvPr id="144" name="Google Shape;144;p16"/>
              <p:cNvSpPr txBox="1"/>
              <p:nvPr/>
            </p:nvSpPr>
            <p:spPr>
              <a:xfrm>
                <a:off x="5965737" y="3203675"/>
                <a:ext cx="1125000" cy="435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Lato"/>
                    <a:ea typeface="Lato"/>
                    <a:cs typeface="Lato"/>
                    <a:sym typeface="Lato"/>
                  </a:rPr>
                  <a:t>3</a:t>
                </a:r>
                <a:r>
                  <a:rPr lang="en">
                    <a:latin typeface="Lato"/>
                    <a:ea typeface="Lato"/>
                    <a:cs typeface="Lato"/>
                    <a:sym typeface="Lato"/>
                  </a:rPr>
                  <a:t>)</a:t>
                </a:r>
                <a:endParaRPr>
                  <a:latin typeface="Lato"/>
                  <a:ea typeface="Lato"/>
                  <a:cs typeface="Lato"/>
                  <a:sym typeface="Lato"/>
                </a:endParaRPr>
              </a:p>
            </p:txBody>
          </p:sp>
          <p:sp>
            <p:nvSpPr>
              <p:cNvPr id="145" name="Google Shape;145;p16"/>
              <p:cNvSpPr txBox="1"/>
              <p:nvPr/>
            </p:nvSpPr>
            <p:spPr>
              <a:xfrm>
                <a:off x="7692410" y="3203675"/>
                <a:ext cx="1125000" cy="435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Lato"/>
                    <a:ea typeface="Lato"/>
                    <a:cs typeface="Lato"/>
                    <a:sym typeface="Lato"/>
                  </a:rPr>
                  <a:t>Result</a:t>
                </a:r>
                <a:endParaRPr>
                  <a:latin typeface="Lato"/>
                  <a:ea typeface="Lato"/>
                  <a:cs typeface="Lato"/>
                  <a:sym typeface="Lato"/>
                </a:endParaRPr>
              </a:p>
            </p:txBody>
          </p:sp>
          <p:grpSp>
            <p:nvGrpSpPr>
              <p:cNvPr id="146" name="Google Shape;146;p16"/>
              <p:cNvGrpSpPr/>
              <p:nvPr/>
            </p:nvGrpSpPr>
            <p:grpSpPr>
              <a:xfrm>
                <a:off x="3769409" y="3644106"/>
                <a:ext cx="1666394" cy="1157362"/>
                <a:chOff x="3769409" y="3644106"/>
                <a:chExt cx="1666394" cy="1157362"/>
              </a:xfrm>
            </p:grpSpPr>
            <p:sp>
              <p:nvSpPr>
                <p:cNvPr id="147" name="Google Shape;147;p16"/>
                <p:cNvSpPr/>
                <p:nvPr/>
              </p:nvSpPr>
              <p:spPr>
                <a:xfrm>
                  <a:off x="5245302" y="3644106"/>
                  <a:ext cx="190500" cy="190500"/>
                </a:xfrm>
                <a:prstGeom prst="mathMultiply">
                  <a:avLst>
                    <a:gd fmla="val 15565" name="adj1"/>
                  </a:avLst>
                </a:prstGeom>
                <a:solidFill>
                  <a:srgbClr val="E7CF0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6"/>
                <p:cNvSpPr/>
                <p:nvPr/>
              </p:nvSpPr>
              <p:spPr>
                <a:xfrm>
                  <a:off x="4568221" y="4258784"/>
                  <a:ext cx="190500" cy="190500"/>
                </a:xfrm>
                <a:prstGeom prst="mathMultiply">
                  <a:avLst>
                    <a:gd fmla="val 15565" name="adj1"/>
                  </a:avLst>
                </a:prstGeom>
                <a:solidFill>
                  <a:srgbClr val="72600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6"/>
                <p:cNvSpPr/>
                <p:nvPr/>
              </p:nvSpPr>
              <p:spPr>
                <a:xfrm>
                  <a:off x="3769409" y="4610969"/>
                  <a:ext cx="190500" cy="190500"/>
                </a:xfrm>
                <a:prstGeom prst="mathMultiply">
                  <a:avLst>
                    <a:gd fmla="val 15565" name="adj1"/>
                  </a:avLst>
                </a:prstGeom>
                <a:solidFill>
                  <a:srgbClr val="070C0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6"/>
                <p:cNvSpPr/>
                <p:nvPr/>
              </p:nvSpPr>
              <p:spPr>
                <a:xfrm>
                  <a:off x="4875271" y="4144484"/>
                  <a:ext cx="190500" cy="190500"/>
                </a:xfrm>
                <a:prstGeom prst="mathMultiply">
                  <a:avLst>
                    <a:gd fmla="val 15565" name="adj1"/>
                  </a:avLst>
                </a:prstGeom>
                <a:solidFill>
                  <a:srgbClr val="BA810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6"/>
                <p:cNvSpPr/>
                <p:nvPr/>
              </p:nvSpPr>
              <p:spPr>
                <a:xfrm>
                  <a:off x="4018503" y="4430716"/>
                  <a:ext cx="190500" cy="190500"/>
                </a:xfrm>
                <a:prstGeom prst="mathMultiply">
                  <a:avLst>
                    <a:gd fmla="val 15565" name="adj1"/>
                  </a:avLst>
                </a:prstGeom>
                <a:solidFill>
                  <a:srgbClr val="37390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p:nvPr/>
              </p:nvSpPr>
              <p:spPr>
                <a:xfrm>
                  <a:off x="4044106" y="4258784"/>
                  <a:ext cx="190500" cy="190500"/>
                </a:xfrm>
                <a:prstGeom prst="mathMultiply">
                  <a:avLst>
                    <a:gd fmla="val 15565" name="adj1"/>
                  </a:avLst>
                </a:prstGeom>
                <a:solidFill>
                  <a:srgbClr val="37590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 name="Google Shape;153;p16"/>
              <p:cNvGrpSpPr/>
              <p:nvPr/>
            </p:nvGrpSpPr>
            <p:grpSpPr>
              <a:xfrm>
                <a:off x="1806777" y="3644106"/>
                <a:ext cx="1666394" cy="1157362"/>
                <a:chOff x="3769409" y="3644106"/>
                <a:chExt cx="1666394" cy="1157362"/>
              </a:xfrm>
            </p:grpSpPr>
            <p:sp>
              <p:nvSpPr>
                <p:cNvPr id="154" name="Google Shape;154;p16"/>
                <p:cNvSpPr/>
                <p:nvPr/>
              </p:nvSpPr>
              <p:spPr>
                <a:xfrm>
                  <a:off x="5245302" y="3644106"/>
                  <a:ext cx="190500" cy="190500"/>
                </a:xfrm>
                <a:prstGeom prst="mathMultiply">
                  <a:avLst>
                    <a:gd fmla="val 15565" name="adj1"/>
                  </a:avLst>
                </a:prstGeom>
                <a:solidFill>
                  <a:srgbClr val="E7CF0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p:nvPr/>
              </p:nvSpPr>
              <p:spPr>
                <a:xfrm>
                  <a:off x="4568221" y="4258784"/>
                  <a:ext cx="190500" cy="190500"/>
                </a:xfrm>
                <a:prstGeom prst="mathMultiply">
                  <a:avLst>
                    <a:gd fmla="val 15565" name="adj1"/>
                  </a:avLst>
                </a:prstGeom>
                <a:solidFill>
                  <a:srgbClr val="72600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6"/>
                <p:cNvSpPr/>
                <p:nvPr/>
              </p:nvSpPr>
              <p:spPr>
                <a:xfrm>
                  <a:off x="3769409" y="4610969"/>
                  <a:ext cx="190500" cy="190500"/>
                </a:xfrm>
                <a:prstGeom prst="mathMultiply">
                  <a:avLst>
                    <a:gd fmla="val 15565" name="adj1"/>
                  </a:avLst>
                </a:prstGeom>
                <a:solidFill>
                  <a:srgbClr val="070C0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6"/>
                <p:cNvSpPr/>
                <p:nvPr/>
              </p:nvSpPr>
              <p:spPr>
                <a:xfrm>
                  <a:off x="4875271" y="4144484"/>
                  <a:ext cx="190500" cy="190500"/>
                </a:xfrm>
                <a:prstGeom prst="mathMultiply">
                  <a:avLst>
                    <a:gd fmla="val 15565" name="adj1"/>
                  </a:avLst>
                </a:prstGeom>
                <a:solidFill>
                  <a:srgbClr val="BA810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6"/>
                <p:cNvSpPr/>
                <p:nvPr/>
              </p:nvSpPr>
              <p:spPr>
                <a:xfrm>
                  <a:off x="4018503" y="4430716"/>
                  <a:ext cx="190500" cy="190500"/>
                </a:xfrm>
                <a:prstGeom prst="mathMultiply">
                  <a:avLst>
                    <a:gd fmla="val 15565" name="adj1"/>
                  </a:avLst>
                </a:prstGeom>
                <a:solidFill>
                  <a:srgbClr val="37390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6"/>
                <p:cNvSpPr/>
                <p:nvPr/>
              </p:nvSpPr>
              <p:spPr>
                <a:xfrm>
                  <a:off x="4044106" y="4258784"/>
                  <a:ext cx="190500" cy="190500"/>
                </a:xfrm>
                <a:prstGeom prst="mathMultiply">
                  <a:avLst>
                    <a:gd fmla="val 15565" name="adj1"/>
                  </a:avLst>
                </a:prstGeom>
                <a:solidFill>
                  <a:srgbClr val="37590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 name="Google Shape;160;p16"/>
              <p:cNvSpPr/>
              <p:nvPr/>
            </p:nvSpPr>
            <p:spPr>
              <a:xfrm>
                <a:off x="7111239" y="3787222"/>
                <a:ext cx="190500" cy="190500"/>
              </a:xfrm>
              <a:prstGeom prst="mathMultiply">
                <a:avLst>
                  <a:gd fmla="val 15565" name="adj1"/>
                </a:avLst>
              </a:prstGeom>
              <a:solidFill>
                <a:srgbClr val="E7CF0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6"/>
              <p:cNvSpPr/>
              <p:nvPr/>
            </p:nvSpPr>
            <p:spPr>
              <a:xfrm>
                <a:off x="6397021" y="4212363"/>
                <a:ext cx="190500" cy="190500"/>
              </a:xfrm>
              <a:prstGeom prst="mathMultiply">
                <a:avLst>
                  <a:gd fmla="val 15565" name="adj1"/>
                </a:avLst>
              </a:prstGeom>
              <a:solidFill>
                <a:srgbClr val="72600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6"/>
              <p:cNvSpPr/>
              <p:nvPr/>
            </p:nvSpPr>
            <p:spPr>
              <a:xfrm>
                <a:off x="5739399" y="4573831"/>
                <a:ext cx="190500" cy="190500"/>
              </a:xfrm>
              <a:prstGeom prst="mathMultiply">
                <a:avLst>
                  <a:gd fmla="val 15565" name="adj1"/>
                </a:avLst>
              </a:prstGeom>
              <a:solidFill>
                <a:srgbClr val="070C0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6"/>
              <p:cNvSpPr/>
              <p:nvPr/>
            </p:nvSpPr>
            <p:spPr>
              <a:xfrm>
                <a:off x="6808124" y="4068284"/>
                <a:ext cx="190500" cy="190500"/>
              </a:xfrm>
              <a:prstGeom prst="mathMultiply">
                <a:avLst>
                  <a:gd fmla="val 15565" name="adj1"/>
                </a:avLst>
              </a:prstGeom>
              <a:solidFill>
                <a:srgbClr val="BA810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6"/>
              <p:cNvSpPr/>
              <p:nvPr/>
            </p:nvSpPr>
            <p:spPr>
              <a:xfrm>
                <a:off x="5904934" y="4440000"/>
                <a:ext cx="190500" cy="190500"/>
              </a:xfrm>
              <a:prstGeom prst="mathMultiply">
                <a:avLst>
                  <a:gd fmla="val 15565" name="adj1"/>
                </a:avLst>
              </a:prstGeom>
              <a:solidFill>
                <a:srgbClr val="37390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6"/>
              <p:cNvSpPr/>
              <p:nvPr/>
            </p:nvSpPr>
            <p:spPr>
              <a:xfrm>
                <a:off x="6032664" y="4268069"/>
                <a:ext cx="190500" cy="190500"/>
              </a:xfrm>
              <a:prstGeom prst="mathMultiply">
                <a:avLst>
                  <a:gd fmla="val 15565" name="adj1"/>
                </a:avLst>
              </a:prstGeom>
              <a:solidFill>
                <a:srgbClr val="37590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 name="Google Shape;166;p16"/>
            <p:cNvSpPr/>
            <p:nvPr/>
          </p:nvSpPr>
          <p:spPr>
            <a:xfrm rot="-5400000">
              <a:off x="5579675" y="2317109"/>
              <a:ext cx="138600" cy="1893300"/>
            </a:xfrm>
            <a:prstGeom prst="rightBracket">
              <a:avLst>
                <a:gd fmla="val 87963"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6"/>
            <p:cNvSpPr txBox="1"/>
            <p:nvPr/>
          </p:nvSpPr>
          <p:spPr>
            <a:xfrm>
              <a:off x="5289415" y="2842177"/>
              <a:ext cx="839400" cy="43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repeat</a:t>
              </a:r>
              <a:endParaRPr>
                <a:latin typeface="Lato"/>
                <a:ea typeface="Lato"/>
                <a:cs typeface="Lato"/>
                <a:sym typeface="Lato"/>
              </a:endParaRPr>
            </a:p>
          </p:txBody>
        </p:sp>
      </p:grpSp>
      <p:sp>
        <p:nvSpPr>
          <p:cNvPr id="168" name="Google Shape;168;p16"/>
          <p:cNvSpPr txBox="1"/>
          <p:nvPr/>
        </p:nvSpPr>
        <p:spPr>
          <a:xfrm>
            <a:off x="0" y="4972200"/>
            <a:ext cx="9144000" cy="1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t>Piech, Chris. “K Means.” Stanford, 201AD, stanford.edu/~cpiech/cs221/handouts/kmeans.html.,  </a:t>
            </a:r>
            <a:r>
              <a:rPr lang="en" sz="500"/>
              <a:t>Larsson, Stefan, and Filip Mellqvist. “Automatic Number Plate Recognition for Android.” </a:t>
            </a:r>
            <a:r>
              <a:rPr i="1" lang="en" sz="500"/>
              <a:t>DIVA</a:t>
            </a:r>
            <a:r>
              <a:rPr lang="en" sz="500"/>
              <a:t>, 26 June 2019, kau.diva-portal.org/smash/record.jsf?pid=diva2%3A1325108.</a:t>
            </a:r>
            <a:endParaRPr sz="500"/>
          </a:p>
          <a:p>
            <a:pPr indent="0" lvl="0" marL="0" rtl="0" algn="l">
              <a:spcBef>
                <a:spcPts val="0"/>
              </a:spcBef>
              <a:spcAft>
                <a:spcPts val="0"/>
              </a:spcAft>
              <a:buNone/>
            </a:pPr>
            <a:r>
              <a:t/>
            </a:r>
            <a:endParaRPr sz="100">
              <a:latin typeface="Lato"/>
              <a:ea typeface="Lato"/>
              <a:cs typeface="Lato"/>
              <a:sym typeface="Lato"/>
            </a:endParaRPr>
          </a:p>
        </p:txBody>
      </p:sp>
      <p:sp>
        <p:nvSpPr>
          <p:cNvPr id="169" name="Google Shape;169;p16"/>
          <p:cNvSpPr txBox="1"/>
          <p:nvPr/>
        </p:nvSpPr>
        <p:spPr>
          <a:xfrm>
            <a:off x="197325" y="3752096"/>
            <a:ext cx="9091800" cy="139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accent1"/>
                </a:solidFill>
                <a:latin typeface="Lato"/>
                <a:ea typeface="Lato"/>
                <a:cs typeface="Lato"/>
                <a:sym typeface="Lato"/>
              </a:rPr>
              <a:t>Major drawbacks:</a:t>
            </a:r>
            <a:endParaRPr b="1">
              <a:solidFill>
                <a:schemeClr val="accent1"/>
              </a:solidFill>
              <a:latin typeface="Lato"/>
              <a:ea typeface="Lato"/>
              <a:cs typeface="Lato"/>
              <a:sym typeface="Lato"/>
            </a:endParaRPr>
          </a:p>
          <a:p>
            <a:pPr indent="-317500" lvl="0" marL="457200" rtl="0" algn="l">
              <a:lnSpc>
                <a:spcPct val="115000"/>
              </a:lnSpc>
              <a:spcBef>
                <a:spcPts val="0"/>
              </a:spcBef>
              <a:spcAft>
                <a:spcPts val="0"/>
              </a:spcAft>
              <a:buClr>
                <a:schemeClr val="accent1"/>
              </a:buClr>
              <a:buSzPts val="1400"/>
              <a:buFont typeface="Lato"/>
              <a:buChar char="-"/>
            </a:pPr>
            <a:r>
              <a:rPr b="1" lang="en">
                <a:solidFill>
                  <a:schemeClr val="accent1"/>
                </a:solidFill>
                <a:latin typeface="Lato"/>
                <a:ea typeface="Lato"/>
                <a:cs typeface="Lato"/>
                <a:sym typeface="Lato"/>
              </a:rPr>
              <a:t>Non-deterministic</a:t>
            </a:r>
            <a:r>
              <a:rPr lang="en">
                <a:solidFill>
                  <a:schemeClr val="accent1"/>
                </a:solidFill>
                <a:latin typeface="Lato"/>
                <a:ea typeface="Lato"/>
                <a:cs typeface="Lato"/>
                <a:sym typeface="Lato"/>
              </a:rPr>
              <a:t> - sensitive to the random initial palette</a:t>
            </a:r>
            <a:endParaRPr>
              <a:solidFill>
                <a:schemeClr val="accent1"/>
              </a:solidFill>
              <a:latin typeface="Lato"/>
              <a:ea typeface="Lato"/>
              <a:cs typeface="Lato"/>
              <a:sym typeface="Lato"/>
            </a:endParaRPr>
          </a:p>
          <a:p>
            <a:pPr indent="-317500" lvl="0" marL="457200" rtl="0" algn="l">
              <a:lnSpc>
                <a:spcPct val="115000"/>
              </a:lnSpc>
              <a:spcBef>
                <a:spcPts val="0"/>
              </a:spcBef>
              <a:spcAft>
                <a:spcPts val="0"/>
              </a:spcAft>
              <a:buClr>
                <a:schemeClr val="accent1"/>
              </a:buClr>
              <a:buSzPts val="1400"/>
              <a:buFont typeface="Lato"/>
              <a:buChar char="-"/>
            </a:pPr>
            <a:r>
              <a:rPr b="1" lang="en">
                <a:solidFill>
                  <a:schemeClr val="accent1"/>
                </a:solidFill>
                <a:latin typeface="Lato"/>
                <a:ea typeface="Lato"/>
                <a:cs typeface="Lato"/>
                <a:sym typeface="Lato"/>
              </a:rPr>
              <a:t>Possible forever loop</a:t>
            </a:r>
            <a:r>
              <a:rPr lang="en">
                <a:solidFill>
                  <a:schemeClr val="accent1"/>
                </a:solidFill>
                <a:latin typeface="Lato"/>
                <a:ea typeface="Lato"/>
                <a:cs typeface="Lato"/>
                <a:sym typeface="Lato"/>
              </a:rPr>
              <a:t> - need either iteration limit or minimum center-shift threshold to fix “cycling” clusters</a:t>
            </a:r>
            <a:endParaRPr>
              <a:solidFill>
                <a:schemeClr val="accent1"/>
              </a:solidFill>
              <a:latin typeface="Lato"/>
              <a:ea typeface="Lato"/>
              <a:cs typeface="Lato"/>
              <a:sym typeface="Lato"/>
            </a:endParaRPr>
          </a:p>
          <a:p>
            <a:pPr indent="-317500" lvl="0" marL="457200" rtl="0" algn="l">
              <a:lnSpc>
                <a:spcPct val="115000"/>
              </a:lnSpc>
              <a:spcBef>
                <a:spcPts val="0"/>
              </a:spcBef>
              <a:spcAft>
                <a:spcPts val="0"/>
              </a:spcAft>
              <a:buClr>
                <a:schemeClr val="accent1"/>
              </a:buClr>
              <a:buSzPts val="1400"/>
              <a:buFont typeface="Lato"/>
              <a:buChar char="-"/>
            </a:pPr>
            <a:r>
              <a:rPr b="1" lang="en">
                <a:solidFill>
                  <a:schemeClr val="accent1"/>
                </a:solidFill>
                <a:latin typeface="Lato"/>
                <a:ea typeface="Lato"/>
                <a:cs typeface="Lato"/>
                <a:sym typeface="Lato"/>
              </a:rPr>
              <a:t>Iterative</a:t>
            </a:r>
            <a:r>
              <a:rPr lang="en">
                <a:solidFill>
                  <a:schemeClr val="accent1"/>
                </a:solidFill>
                <a:latin typeface="Lato"/>
                <a:ea typeface="Lato"/>
                <a:cs typeface="Lato"/>
                <a:sym typeface="Lato"/>
              </a:rPr>
              <a:t> - necessarily stuck on CPU control logic</a:t>
            </a:r>
            <a:endParaRPr>
              <a:solidFill>
                <a:schemeClr val="accent1"/>
              </a:solidFill>
              <a:latin typeface="Lato"/>
              <a:ea typeface="Lato"/>
              <a:cs typeface="Lato"/>
              <a:sym typeface="Lato"/>
            </a:endParaRPr>
          </a:p>
          <a:p>
            <a:pPr indent="-311150" lvl="0" marL="457200" rtl="0" algn="l">
              <a:lnSpc>
                <a:spcPct val="115000"/>
              </a:lnSpc>
              <a:spcBef>
                <a:spcPts val="0"/>
              </a:spcBef>
              <a:spcAft>
                <a:spcPts val="0"/>
              </a:spcAft>
              <a:buClr>
                <a:schemeClr val="accent1"/>
              </a:buClr>
              <a:buSzPts val="1300"/>
              <a:buFont typeface="Lato"/>
              <a:buChar char="-"/>
            </a:pPr>
            <a:r>
              <a:rPr lang="en">
                <a:solidFill>
                  <a:schemeClr val="accent1"/>
                </a:solidFill>
                <a:latin typeface="Lato"/>
                <a:ea typeface="Lato"/>
                <a:cs typeface="Lato"/>
                <a:sym typeface="Lato"/>
              </a:rPr>
              <a:t>In general, not easy to deploy on large scale for conducting lots of CQ</a:t>
            </a:r>
            <a:endParaRPr>
              <a:solidFill>
                <a:schemeClr val="accen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txBox="1"/>
          <p:nvPr>
            <p:ph type="title"/>
          </p:nvPr>
        </p:nvSpPr>
        <p:spPr>
          <a:xfrm>
            <a:off x="729450" y="1322450"/>
            <a:ext cx="7688400" cy="248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we achieve the high quality results of K-Means without the implementation problems?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8"/>
          <p:cNvSpPr txBox="1"/>
          <p:nvPr>
            <p:ph type="title"/>
          </p:nvPr>
        </p:nvSpPr>
        <p:spPr>
          <a:xfrm>
            <a:off x="727800" y="557175"/>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Convolutional Neural Network (CNN) </a:t>
            </a:r>
            <a:endParaRPr/>
          </a:p>
        </p:txBody>
      </p:sp>
      <p:pic>
        <p:nvPicPr>
          <p:cNvPr descr="A Comprehensive Guide to Convolutional Neural Networks — the ELI5 way | by  Sumit Saha | Towards Data Science" id="180" name="Google Shape;180;p18"/>
          <p:cNvPicPr preferRelativeResize="0"/>
          <p:nvPr/>
        </p:nvPicPr>
        <p:blipFill>
          <a:blip r:embed="rId3">
            <a:alphaModFix/>
          </a:blip>
          <a:stretch>
            <a:fillRect/>
          </a:stretch>
        </p:blipFill>
        <p:spPr>
          <a:xfrm>
            <a:off x="1994158" y="2470162"/>
            <a:ext cx="3246175" cy="1095575"/>
          </a:xfrm>
          <a:prstGeom prst="rect">
            <a:avLst/>
          </a:prstGeom>
          <a:noFill/>
          <a:ln>
            <a:noFill/>
          </a:ln>
        </p:spPr>
      </p:pic>
      <p:pic>
        <p:nvPicPr>
          <p:cNvPr id="181" name="Google Shape;181;p18"/>
          <p:cNvPicPr preferRelativeResize="0"/>
          <p:nvPr/>
        </p:nvPicPr>
        <p:blipFill>
          <a:blip r:embed="rId4">
            <a:alphaModFix/>
          </a:blip>
          <a:stretch>
            <a:fillRect/>
          </a:stretch>
        </p:blipFill>
        <p:spPr>
          <a:xfrm>
            <a:off x="6060287" y="3924150"/>
            <a:ext cx="2826150" cy="807475"/>
          </a:xfrm>
          <a:prstGeom prst="rect">
            <a:avLst/>
          </a:prstGeom>
          <a:noFill/>
          <a:ln>
            <a:noFill/>
          </a:ln>
        </p:spPr>
      </p:pic>
      <p:sp>
        <p:nvSpPr>
          <p:cNvPr id="182" name="Google Shape;182;p18"/>
          <p:cNvSpPr txBox="1"/>
          <p:nvPr/>
        </p:nvSpPr>
        <p:spPr>
          <a:xfrm>
            <a:off x="0" y="4898725"/>
            <a:ext cx="9144000" cy="16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500"/>
              <a:t>Saha, Sumit. “A Comprehensive Guide to Convolutional Neural Networks - the ELI5 Way.” </a:t>
            </a:r>
            <a:r>
              <a:rPr i="1" lang="en" sz="500"/>
              <a:t>Medium</a:t>
            </a:r>
            <a:r>
              <a:rPr lang="en" sz="500"/>
              <a:t>, Towards Data Science, 17 Dec. 2018, towardsdatascience.com/a-comprehensive-guide-to-convolutional-neural-networks-the-eli5-way-3bd2b1164a53., Celebi, M. Emre. “Improving the Performance of k-Means for Color Quantization.” </a:t>
            </a:r>
            <a:r>
              <a:rPr i="1" lang="en" sz="500"/>
              <a:t>Image and Vision Computing</a:t>
            </a:r>
            <a:r>
              <a:rPr lang="en" sz="500"/>
              <a:t>, vol. 29, no. 4, 2011, pp. 260–271., doi:10.1016/j.imavis.2010.10.002., B. Zhou, A. Lapedriza, J. Xiao, A. Torralba, and A. Oliva. Learning Deep Features for Scene Recognition using Places Database. Advances in Neural Information Processing Systems 27 (NIPS), 2014.</a:t>
            </a:r>
            <a:endParaRPr sz="500"/>
          </a:p>
          <a:p>
            <a:pPr indent="0" lvl="0" marL="0" rtl="0" algn="l">
              <a:spcBef>
                <a:spcPts val="0"/>
              </a:spcBef>
              <a:spcAft>
                <a:spcPts val="0"/>
              </a:spcAft>
              <a:buNone/>
            </a:pPr>
            <a:r>
              <a:t/>
            </a:r>
            <a:endParaRPr sz="100">
              <a:latin typeface="Lato"/>
              <a:ea typeface="Lato"/>
              <a:cs typeface="Lato"/>
              <a:sym typeface="Lato"/>
            </a:endParaRPr>
          </a:p>
        </p:txBody>
      </p:sp>
      <p:sp>
        <p:nvSpPr>
          <p:cNvPr id="183" name="Google Shape;183;p18"/>
          <p:cNvSpPr/>
          <p:nvPr/>
        </p:nvSpPr>
        <p:spPr>
          <a:xfrm>
            <a:off x="1400725" y="2910688"/>
            <a:ext cx="493800" cy="258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
          <p:cNvSpPr txBox="1"/>
          <p:nvPr/>
        </p:nvSpPr>
        <p:spPr>
          <a:xfrm>
            <a:off x="6039879" y="2287847"/>
            <a:ext cx="779700" cy="2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rgbClr val="444444"/>
                </a:solidFill>
                <a:latin typeface="Lato"/>
                <a:ea typeface="Lato"/>
                <a:cs typeface="Lato"/>
                <a:sym typeface="Lato"/>
              </a:rPr>
              <a:t>Palette</a:t>
            </a:r>
            <a:endParaRPr b="1" sz="1100">
              <a:solidFill>
                <a:srgbClr val="444444"/>
              </a:solidFill>
              <a:latin typeface="Lato"/>
              <a:ea typeface="Lato"/>
              <a:cs typeface="Lato"/>
              <a:sym typeface="Lato"/>
            </a:endParaRPr>
          </a:p>
        </p:txBody>
      </p:sp>
      <p:sp>
        <p:nvSpPr>
          <p:cNvPr id="185" name="Google Shape;185;p18"/>
          <p:cNvSpPr/>
          <p:nvPr/>
        </p:nvSpPr>
        <p:spPr>
          <a:xfrm>
            <a:off x="7364396" y="2961392"/>
            <a:ext cx="399300" cy="156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6" name="Google Shape;186;p18"/>
          <p:cNvPicPr preferRelativeResize="0"/>
          <p:nvPr/>
        </p:nvPicPr>
        <p:blipFill>
          <a:blip r:embed="rId5">
            <a:alphaModFix/>
          </a:blip>
          <a:stretch>
            <a:fillRect/>
          </a:stretch>
        </p:blipFill>
        <p:spPr>
          <a:xfrm>
            <a:off x="144380" y="2462064"/>
            <a:ext cx="1198464" cy="1122622"/>
          </a:xfrm>
          <a:prstGeom prst="rect">
            <a:avLst/>
          </a:prstGeom>
          <a:noFill/>
          <a:ln>
            <a:noFill/>
          </a:ln>
        </p:spPr>
      </p:pic>
      <p:sp>
        <p:nvSpPr>
          <p:cNvPr id="187" name="Google Shape;187;p18"/>
          <p:cNvSpPr txBox="1"/>
          <p:nvPr>
            <p:ph idx="1" type="body"/>
          </p:nvPr>
        </p:nvSpPr>
        <p:spPr>
          <a:xfrm>
            <a:off x="727800" y="1326150"/>
            <a:ext cx="7992600" cy="73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Benefits:</a:t>
            </a:r>
            <a:endParaRPr sz="1400"/>
          </a:p>
          <a:p>
            <a:pPr indent="-317500" lvl="0" marL="457200" rtl="0" algn="l">
              <a:spcBef>
                <a:spcPts val="0"/>
              </a:spcBef>
              <a:spcAft>
                <a:spcPts val="0"/>
              </a:spcAft>
              <a:buSzPts val="1400"/>
              <a:buChar char="-"/>
            </a:pPr>
            <a:r>
              <a:rPr lang="en" sz="1400"/>
              <a:t>Always deterministic</a:t>
            </a:r>
            <a:endParaRPr sz="1400"/>
          </a:p>
          <a:p>
            <a:pPr indent="-317500" lvl="0" marL="457200" rtl="0" algn="l">
              <a:spcBef>
                <a:spcPts val="0"/>
              </a:spcBef>
              <a:spcAft>
                <a:spcPts val="0"/>
              </a:spcAft>
              <a:buSzPts val="1400"/>
              <a:buChar char="-"/>
            </a:pPr>
            <a:r>
              <a:rPr lang="en" sz="1400"/>
              <a:t>Most commonly used with image data - good at classification tasks</a:t>
            </a:r>
            <a:endParaRPr sz="1400"/>
          </a:p>
        </p:txBody>
      </p:sp>
      <p:pic>
        <p:nvPicPr>
          <p:cNvPr id="188" name="Google Shape;188;p18"/>
          <p:cNvPicPr preferRelativeResize="0"/>
          <p:nvPr/>
        </p:nvPicPr>
        <p:blipFill>
          <a:blip r:embed="rId6">
            <a:alphaModFix/>
          </a:blip>
          <a:stretch>
            <a:fillRect/>
          </a:stretch>
        </p:blipFill>
        <p:spPr>
          <a:xfrm>
            <a:off x="7936985" y="2471253"/>
            <a:ext cx="1143831" cy="1122600"/>
          </a:xfrm>
          <a:prstGeom prst="rect">
            <a:avLst/>
          </a:prstGeom>
          <a:noFill/>
          <a:ln>
            <a:noFill/>
          </a:ln>
        </p:spPr>
      </p:pic>
      <p:sp>
        <p:nvSpPr>
          <p:cNvPr id="189" name="Google Shape;189;p18"/>
          <p:cNvSpPr txBox="1"/>
          <p:nvPr/>
        </p:nvSpPr>
        <p:spPr>
          <a:xfrm>
            <a:off x="7861775" y="2179547"/>
            <a:ext cx="1290000" cy="2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rgbClr val="444444"/>
                </a:solidFill>
                <a:latin typeface="Lato"/>
                <a:ea typeface="Lato"/>
                <a:cs typeface="Lato"/>
                <a:sym typeface="Lato"/>
              </a:rPr>
              <a:t>Quantized Image</a:t>
            </a:r>
            <a:endParaRPr b="1" sz="1100">
              <a:solidFill>
                <a:srgbClr val="444444"/>
              </a:solidFill>
              <a:latin typeface="Lato"/>
              <a:ea typeface="Lato"/>
              <a:cs typeface="Lato"/>
              <a:sym typeface="Lato"/>
            </a:endParaRPr>
          </a:p>
        </p:txBody>
      </p:sp>
      <p:pic>
        <p:nvPicPr>
          <p:cNvPr id="190" name="Google Shape;190;p18"/>
          <p:cNvPicPr preferRelativeResize="0"/>
          <p:nvPr/>
        </p:nvPicPr>
        <p:blipFill rotWithShape="1">
          <a:blip r:embed="rId7">
            <a:alphaModFix/>
          </a:blip>
          <a:srcRect b="0" l="0" r="0" t="1912"/>
          <a:stretch/>
        </p:blipFill>
        <p:spPr>
          <a:xfrm>
            <a:off x="5668375" y="2558275"/>
            <a:ext cx="1522725" cy="1122600"/>
          </a:xfrm>
          <a:prstGeom prst="rect">
            <a:avLst/>
          </a:prstGeom>
          <a:noFill/>
          <a:ln>
            <a:noFill/>
          </a:ln>
        </p:spPr>
      </p:pic>
      <p:sp>
        <p:nvSpPr>
          <p:cNvPr id="191" name="Google Shape;191;p18"/>
          <p:cNvSpPr txBox="1"/>
          <p:nvPr/>
        </p:nvSpPr>
        <p:spPr>
          <a:xfrm>
            <a:off x="7123050" y="2489671"/>
            <a:ext cx="882000" cy="48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rgbClr val="444444"/>
                </a:solidFill>
                <a:latin typeface="Lato"/>
                <a:ea typeface="Lato"/>
                <a:cs typeface="Lato"/>
                <a:sym typeface="Lato"/>
              </a:rPr>
              <a:t>Pixel Mapping*</a:t>
            </a:r>
            <a:endParaRPr b="1" sz="1100">
              <a:solidFill>
                <a:srgbClr val="444444"/>
              </a:solidFill>
              <a:latin typeface="Lato"/>
              <a:ea typeface="Lato"/>
              <a:cs typeface="Lato"/>
              <a:sym typeface="Lato"/>
            </a:endParaRPr>
          </a:p>
        </p:txBody>
      </p:sp>
      <p:sp>
        <p:nvSpPr>
          <p:cNvPr id="192" name="Google Shape;192;p18"/>
          <p:cNvSpPr/>
          <p:nvPr/>
        </p:nvSpPr>
        <p:spPr>
          <a:xfrm>
            <a:off x="5220060" y="2930713"/>
            <a:ext cx="399300" cy="156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8"/>
          <p:cNvSpPr txBox="1"/>
          <p:nvPr/>
        </p:nvSpPr>
        <p:spPr>
          <a:xfrm>
            <a:off x="249950" y="3800000"/>
            <a:ext cx="5790000" cy="118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accent1"/>
                </a:solidFill>
                <a:latin typeface="Lato"/>
                <a:ea typeface="Lato"/>
                <a:cs typeface="Lato"/>
                <a:sym typeface="Lato"/>
              </a:rPr>
              <a:t>A</a:t>
            </a:r>
            <a:r>
              <a:rPr lang="en">
                <a:solidFill>
                  <a:schemeClr val="accent1"/>
                </a:solidFill>
                <a:latin typeface="Lato"/>
                <a:ea typeface="Lato"/>
                <a:cs typeface="Lato"/>
                <a:sym typeface="Lato"/>
              </a:rPr>
              <a:t>quarium</a:t>
            </a:r>
            <a:r>
              <a:rPr lang="en">
                <a:solidFill>
                  <a:schemeClr val="accent1"/>
                </a:solidFill>
                <a:latin typeface="Lato"/>
                <a:ea typeface="Lato"/>
                <a:cs typeface="Lato"/>
                <a:sym typeface="Lato"/>
              </a:rPr>
              <a:t> subset of the Places205 dataset used (15000 images for training &amp; 100 images for validation)</a:t>
            </a:r>
            <a:endParaRPr>
              <a:solidFill>
                <a:schemeClr val="accent1"/>
              </a:solidFill>
              <a:latin typeface="Lato"/>
              <a:ea typeface="Lato"/>
              <a:cs typeface="Lato"/>
              <a:sym typeface="Lato"/>
            </a:endParaRPr>
          </a:p>
          <a:p>
            <a:pPr indent="0" lvl="0" marL="0" rtl="0" algn="l">
              <a:lnSpc>
                <a:spcPct val="115000"/>
              </a:lnSpc>
              <a:spcBef>
                <a:spcPts val="0"/>
              </a:spcBef>
              <a:spcAft>
                <a:spcPts val="0"/>
              </a:spcAft>
              <a:buNone/>
            </a:pPr>
            <a:r>
              <a:rPr lang="en" sz="1000">
                <a:solidFill>
                  <a:schemeClr val="accent1"/>
                </a:solidFill>
                <a:latin typeface="Lato"/>
                <a:ea typeface="Lato"/>
                <a:cs typeface="Lato"/>
                <a:sym typeface="Lato"/>
              </a:rPr>
              <a:t>*To allow for gradient propagation, the pixel mapping during training uses Softmax to map from a palette to a quantized image continuously rather than a normal piecewise minimum </a:t>
            </a:r>
            <a:r>
              <a:rPr lang="en" sz="1000">
                <a:solidFill>
                  <a:schemeClr val="accent1"/>
                </a:solidFill>
                <a:latin typeface="Lato"/>
                <a:ea typeface="Lato"/>
                <a:cs typeface="Lato"/>
                <a:sym typeface="Lato"/>
              </a:rPr>
              <a:t>euclidean</a:t>
            </a:r>
            <a:r>
              <a:rPr lang="en" sz="1000">
                <a:solidFill>
                  <a:schemeClr val="accent1"/>
                </a:solidFill>
                <a:latin typeface="Lato"/>
                <a:ea typeface="Lato"/>
                <a:cs typeface="Lato"/>
                <a:sym typeface="Lato"/>
              </a:rPr>
              <a:t> distance mapping</a:t>
            </a:r>
            <a:endParaRPr sz="1000">
              <a:solidFill>
                <a:schemeClr val="accent1"/>
              </a:solidFill>
              <a:latin typeface="Lato"/>
              <a:ea typeface="Lato"/>
              <a:cs typeface="Lato"/>
              <a:sym typeface="Lato"/>
            </a:endParaRPr>
          </a:p>
        </p:txBody>
      </p:sp>
      <p:sp>
        <p:nvSpPr>
          <p:cNvPr id="194" name="Google Shape;194;p18"/>
          <p:cNvSpPr txBox="1"/>
          <p:nvPr/>
        </p:nvSpPr>
        <p:spPr>
          <a:xfrm>
            <a:off x="89375" y="2179547"/>
            <a:ext cx="1290000" cy="2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rgbClr val="444444"/>
                </a:solidFill>
                <a:latin typeface="Lato"/>
                <a:ea typeface="Lato"/>
                <a:cs typeface="Lato"/>
                <a:sym typeface="Lato"/>
              </a:rPr>
              <a:t>Original</a:t>
            </a:r>
            <a:r>
              <a:rPr b="1" lang="en" sz="1100">
                <a:solidFill>
                  <a:srgbClr val="444444"/>
                </a:solidFill>
                <a:latin typeface="Lato"/>
                <a:ea typeface="Lato"/>
                <a:cs typeface="Lato"/>
                <a:sym typeface="Lato"/>
              </a:rPr>
              <a:t> Image</a:t>
            </a:r>
            <a:endParaRPr b="1" sz="1100">
              <a:solidFill>
                <a:srgbClr val="444444"/>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9"/>
          <p:cNvSpPr txBox="1"/>
          <p:nvPr>
            <p:ph type="title"/>
          </p:nvPr>
        </p:nvSpPr>
        <p:spPr>
          <a:xfrm>
            <a:off x="727800" y="597125"/>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Architecture</a:t>
            </a:r>
            <a:endParaRPr/>
          </a:p>
        </p:txBody>
      </p:sp>
      <p:pic>
        <p:nvPicPr>
          <p:cNvPr id="200" name="Google Shape;200;p19"/>
          <p:cNvPicPr preferRelativeResize="0"/>
          <p:nvPr/>
        </p:nvPicPr>
        <p:blipFill>
          <a:blip r:embed="rId3">
            <a:alphaModFix/>
          </a:blip>
          <a:stretch>
            <a:fillRect/>
          </a:stretch>
        </p:blipFill>
        <p:spPr>
          <a:xfrm>
            <a:off x="112766" y="1965063"/>
            <a:ext cx="631150" cy="618525"/>
          </a:xfrm>
          <a:prstGeom prst="rect">
            <a:avLst/>
          </a:prstGeom>
          <a:noFill/>
          <a:ln>
            <a:noFill/>
          </a:ln>
        </p:spPr>
      </p:pic>
      <p:sp>
        <p:nvSpPr>
          <p:cNvPr id="201" name="Google Shape;201;p19"/>
          <p:cNvSpPr txBox="1"/>
          <p:nvPr/>
        </p:nvSpPr>
        <p:spPr>
          <a:xfrm>
            <a:off x="0" y="4972200"/>
            <a:ext cx="9144000" cy="1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t>Larsson, Stefan, and Filip Mellqvist. “Automatic Number Plate Recognition for Android.” </a:t>
            </a:r>
            <a:r>
              <a:rPr i="1" lang="en" sz="500"/>
              <a:t>DIVA</a:t>
            </a:r>
            <a:r>
              <a:rPr lang="en" sz="500"/>
              <a:t>, 26 June 2019, kau.diva-portal.org/smash/record.jsf?pid=diva2%3A1325108.</a:t>
            </a:r>
            <a:endParaRPr/>
          </a:p>
        </p:txBody>
      </p:sp>
      <p:sp>
        <p:nvSpPr>
          <p:cNvPr id="202" name="Google Shape;202;p19"/>
          <p:cNvSpPr/>
          <p:nvPr/>
        </p:nvSpPr>
        <p:spPr>
          <a:xfrm>
            <a:off x="1126466" y="1320650"/>
            <a:ext cx="428700" cy="190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accent1"/>
                </a:solidFill>
              </a:rPr>
              <a:t>3x3</a:t>
            </a:r>
            <a:endParaRPr sz="1100">
              <a:solidFill>
                <a:schemeClr val="accent1"/>
              </a:solidFill>
            </a:endParaRPr>
          </a:p>
          <a:p>
            <a:pPr indent="0" lvl="0" marL="0" rtl="0" algn="ctr">
              <a:spcBef>
                <a:spcPts val="0"/>
              </a:spcBef>
              <a:spcAft>
                <a:spcPts val="0"/>
              </a:spcAft>
              <a:buNone/>
            </a:pPr>
            <a:r>
              <a:rPr lang="en" sz="1100">
                <a:solidFill>
                  <a:schemeClr val="accent1"/>
                </a:solidFill>
              </a:rPr>
              <a:t>16</a:t>
            </a:r>
            <a:endParaRPr sz="1100">
              <a:solidFill>
                <a:schemeClr val="accent1"/>
              </a:solidFill>
            </a:endParaRPr>
          </a:p>
        </p:txBody>
      </p:sp>
      <p:sp>
        <p:nvSpPr>
          <p:cNvPr id="203" name="Google Shape;203;p19"/>
          <p:cNvSpPr/>
          <p:nvPr/>
        </p:nvSpPr>
        <p:spPr>
          <a:xfrm rot="-5400000">
            <a:off x="766638" y="2143525"/>
            <a:ext cx="1909200" cy="26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1"/>
                </a:solidFill>
              </a:rPr>
              <a:t>Leaky ReLU (0.2)</a:t>
            </a:r>
            <a:endParaRPr sz="900">
              <a:solidFill>
                <a:schemeClr val="accent1"/>
              </a:solidFill>
            </a:endParaRPr>
          </a:p>
        </p:txBody>
      </p:sp>
      <p:sp>
        <p:nvSpPr>
          <p:cNvPr id="204" name="Google Shape;204;p19"/>
          <p:cNvSpPr/>
          <p:nvPr/>
        </p:nvSpPr>
        <p:spPr>
          <a:xfrm rot="-5400000">
            <a:off x="1073582" y="2142938"/>
            <a:ext cx="1909200" cy="26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1"/>
                </a:solidFill>
              </a:rPr>
              <a:t>MaxPool (4)</a:t>
            </a:r>
            <a:endParaRPr sz="900">
              <a:solidFill>
                <a:schemeClr val="accent1"/>
              </a:solidFill>
            </a:endParaRPr>
          </a:p>
        </p:txBody>
      </p:sp>
      <p:sp>
        <p:nvSpPr>
          <p:cNvPr id="205" name="Google Shape;205;p19"/>
          <p:cNvSpPr/>
          <p:nvPr/>
        </p:nvSpPr>
        <p:spPr>
          <a:xfrm>
            <a:off x="2208050" y="2195600"/>
            <a:ext cx="262800" cy="156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9"/>
          <p:cNvSpPr/>
          <p:nvPr/>
        </p:nvSpPr>
        <p:spPr>
          <a:xfrm>
            <a:off x="2522766" y="1320350"/>
            <a:ext cx="428700" cy="190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accent1"/>
                </a:solidFill>
              </a:rPr>
              <a:t>3x3</a:t>
            </a:r>
            <a:endParaRPr sz="1100">
              <a:solidFill>
                <a:schemeClr val="accent1"/>
              </a:solidFill>
            </a:endParaRPr>
          </a:p>
          <a:p>
            <a:pPr indent="0" lvl="0" marL="0" rtl="0" algn="ctr">
              <a:spcBef>
                <a:spcPts val="0"/>
              </a:spcBef>
              <a:spcAft>
                <a:spcPts val="0"/>
              </a:spcAft>
              <a:buNone/>
            </a:pPr>
            <a:r>
              <a:rPr lang="en" sz="1100">
                <a:solidFill>
                  <a:schemeClr val="accent1"/>
                </a:solidFill>
              </a:rPr>
              <a:t>32</a:t>
            </a:r>
            <a:endParaRPr sz="1100">
              <a:solidFill>
                <a:schemeClr val="accent1"/>
              </a:solidFill>
            </a:endParaRPr>
          </a:p>
        </p:txBody>
      </p:sp>
      <p:sp>
        <p:nvSpPr>
          <p:cNvPr id="207" name="Google Shape;207;p19"/>
          <p:cNvSpPr/>
          <p:nvPr/>
        </p:nvSpPr>
        <p:spPr>
          <a:xfrm rot="-5400000">
            <a:off x="2167674" y="2143225"/>
            <a:ext cx="1909200" cy="26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1"/>
                </a:solidFill>
              </a:rPr>
              <a:t>Leaky ReLU (0.2)</a:t>
            </a:r>
            <a:endParaRPr sz="900">
              <a:solidFill>
                <a:schemeClr val="accent1"/>
              </a:solidFill>
            </a:endParaRPr>
          </a:p>
        </p:txBody>
      </p:sp>
      <p:sp>
        <p:nvSpPr>
          <p:cNvPr id="208" name="Google Shape;208;p19"/>
          <p:cNvSpPr/>
          <p:nvPr/>
        </p:nvSpPr>
        <p:spPr>
          <a:xfrm rot="-5400000">
            <a:off x="2469882" y="2142638"/>
            <a:ext cx="1909200" cy="26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1"/>
                </a:solidFill>
              </a:rPr>
              <a:t>MaxPool (4)</a:t>
            </a:r>
            <a:endParaRPr sz="900">
              <a:solidFill>
                <a:schemeClr val="accent1"/>
              </a:solidFill>
            </a:endParaRPr>
          </a:p>
        </p:txBody>
      </p:sp>
      <p:sp>
        <p:nvSpPr>
          <p:cNvPr id="209" name="Google Shape;209;p19"/>
          <p:cNvSpPr/>
          <p:nvPr/>
        </p:nvSpPr>
        <p:spPr>
          <a:xfrm>
            <a:off x="3919066" y="1320213"/>
            <a:ext cx="428700" cy="190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accent1"/>
                </a:solidFill>
              </a:rPr>
              <a:t>3x3</a:t>
            </a:r>
            <a:endParaRPr sz="1100">
              <a:solidFill>
                <a:schemeClr val="accent1"/>
              </a:solidFill>
            </a:endParaRPr>
          </a:p>
          <a:p>
            <a:pPr indent="0" lvl="0" marL="0" rtl="0" algn="ctr">
              <a:spcBef>
                <a:spcPts val="0"/>
              </a:spcBef>
              <a:spcAft>
                <a:spcPts val="0"/>
              </a:spcAft>
              <a:buNone/>
            </a:pPr>
            <a:r>
              <a:rPr lang="en" sz="1100">
                <a:solidFill>
                  <a:schemeClr val="accent1"/>
                </a:solidFill>
              </a:rPr>
              <a:t>64</a:t>
            </a:r>
            <a:endParaRPr sz="1100">
              <a:solidFill>
                <a:schemeClr val="accent1"/>
              </a:solidFill>
            </a:endParaRPr>
          </a:p>
        </p:txBody>
      </p:sp>
      <p:sp>
        <p:nvSpPr>
          <p:cNvPr id="210" name="Google Shape;210;p19"/>
          <p:cNvSpPr/>
          <p:nvPr/>
        </p:nvSpPr>
        <p:spPr>
          <a:xfrm rot="-5400000">
            <a:off x="3563974" y="2143088"/>
            <a:ext cx="1909200" cy="26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1"/>
                </a:solidFill>
              </a:rPr>
              <a:t>Leaky ReLU (0.2)</a:t>
            </a:r>
            <a:endParaRPr sz="900">
              <a:solidFill>
                <a:schemeClr val="accent1"/>
              </a:solidFill>
            </a:endParaRPr>
          </a:p>
        </p:txBody>
      </p:sp>
      <p:sp>
        <p:nvSpPr>
          <p:cNvPr id="211" name="Google Shape;211;p19"/>
          <p:cNvSpPr/>
          <p:nvPr/>
        </p:nvSpPr>
        <p:spPr>
          <a:xfrm rot="-5400000">
            <a:off x="3866182" y="2142500"/>
            <a:ext cx="1909200" cy="26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1"/>
                </a:solidFill>
              </a:rPr>
              <a:t>MaxPool (4)</a:t>
            </a:r>
            <a:endParaRPr sz="900">
              <a:solidFill>
                <a:schemeClr val="accent1"/>
              </a:solidFill>
            </a:endParaRPr>
          </a:p>
        </p:txBody>
      </p:sp>
      <p:sp>
        <p:nvSpPr>
          <p:cNvPr id="212" name="Google Shape;212;p19"/>
          <p:cNvSpPr/>
          <p:nvPr/>
        </p:nvSpPr>
        <p:spPr>
          <a:xfrm>
            <a:off x="5315366" y="1319913"/>
            <a:ext cx="428700" cy="190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accent1"/>
                </a:solidFill>
              </a:rPr>
              <a:t>3x3</a:t>
            </a:r>
            <a:endParaRPr sz="1100">
              <a:solidFill>
                <a:schemeClr val="accent1"/>
              </a:solidFill>
            </a:endParaRPr>
          </a:p>
          <a:p>
            <a:pPr indent="0" lvl="0" marL="0" rtl="0" algn="ctr">
              <a:spcBef>
                <a:spcPts val="0"/>
              </a:spcBef>
              <a:spcAft>
                <a:spcPts val="0"/>
              </a:spcAft>
              <a:buNone/>
            </a:pPr>
            <a:r>
              <a:rPr lang="en" sz="1100">
                <a:solidFill>
                  <a:schemeClr val="accent1"/>
                </a:solidFill>
              </a:rPr>
              <a:t>128</a:t>
            </a:r>
            <a:endParaRPr sz="1100">
              <a:solidFill>
                <a:schemeClr val="accent1"/>
              </a:solidFill>
            </a:endParaRPr>
          </a:p>
        </p:txBody>
      </p:sp>
      <p:sp>
        <p:nvSpPr>
          <p:cNvPr id="213" name="Google Shape;213;p19"/>
          <p:cNvSpPr/>
          <p:nvPr/>
        </p:nvSpPr>
        <p:spPr>
          <a:xfrm rot="-5400000">
            <a:off x="4960274" y="2142788"/>
            <a:ext cx="1909200" cy="26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1"/>
                </a:solidFill>
              </a:rPr>
              <a:t>Leaky ReLU (0.2)</a:t>
            </a:r>
            <a:endParaRPr sz="900">
              <a:solidFill>
                <a:schemeClr val="accent1"/>
              </a:solidFill>
            </a:endParaRPr>
          </a:p>
        </p:txBody>
      </p:sp>
      <p:sp>
        <p:nvSpPr>
          <p:cNvPr id="214" name="Google Shape;214;p19"/>
          <p:cNvSpPr/>
          <p:nvPr/>
        </p:nvSpPr>
        <p:spPr>
          <a:xfrm rot="-5400000">
            <a:off x="5262482" y="2142200"/>
            <a:ext cx="1909200" cy="26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1"/>
                </a:solidFill>
              </a:rPr>
              <a:t>MaxPool (4)</a:t>
            </a:r>
            <a:endParaRPr sz="900">
              <a:solidFill>
                <a:schemeClr val="accent1"/>
              </a:solidFill>
            </a:endParaRPr>
          </a:p>
        </p:txBody>
      </p:sp>
      <p:sp>
        <p:nvSpPr>
          <p:cNvPr id="215" name="Google Shape;215;p19"/>
          <p:cNvSpPr/>
          <p:nvPr/>
        </p:nvSpPr>
        <p:spPr>
          <a:xfrm>
            <a:off x="6690116" y="1320650"/>
            <a:ext cx="578400" cy="195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accent1"/>
                </a:solidFill>
              </a:rPr>
              <a:t>Linear</a:t>
            </a:r>
            <a:endParaRPr sz="1100">
              <a:solidFill>
                <a:schemeClr val="accent1"/>
              </a:solidFill>
            </a:endParaRPr>
          </a:p>
          <a:p>
            <a:pPr indent="0" lvl="0" marL="0" rtl="0" algn="ctr">
              <a:spcBef>
                <a:spcPts val="0"/>
              </a:spcBef>
              <a:spcAft>
                <a:spcPts val="0"/>
              </a:spcAft>
              <a:buNone/>
            </a:pPr>
            <a:r>
              <a:rPr lang="en" sz="1100">
                <a:solidFill>
                  <a:schemeClr val="accent1"/>
                </a:solidFill>
              </a:rPr>
              <a:t>128, 64</a:t>
            </a:r>
            <a:endParaRPr sz="1100">
              <a:solidFill>
                <a:schemeClr val="accent1"/>
              </a:solidFill>
            </a:endParaRPr>
          </a:p>
        </p:txBody>
      </p:sp>
      <p:sp>
        <p:nvSpPr>
          <p:cNvPr id="216" name="Google Shape;216;p19"/>
          <p:cNvSpPr/>
          <p:nvPr/>
        </p:nvSpPr>
        <p:spPr>
          <a:xfrm rot="-5400000">
            <a:off x="6465516" y="2172119"/>
            <a:ext cx="1944300" cy="26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1"/>
                </a:solidFill>
              </a:rPr>
              <a:t>Leaky ReLU (0.2)</a:t>
            </a:r>
            <a:endParaRPr sz="900">
              <a:solidFill>
                <a:schemeClr val="accent1"/>
              </a:solidFill>
            </a:endParaRPr>
          </a:p>
        </p:txBody>
      </p:sp>
      <p:sp>
        <p:nvSpPr>
          <p:cNvPr id="217" name="Google Shape;217;p19"/>
          <p:cNvSpPr/>
          <p:nvPr/>
        </p:nvSpPr>
        <p:spPr>
          <a:xfrm>
            <a:off x="7913599" y="1320650"/>
            <a:ext cx="578400" cy="195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accent1"/>
                </a:solidFill>
              </a:rPr>
              <a:t>Linear</a:t>
            </a:r>
            <a:endParaRPr sz="1100">
              <a:solidFill>
                <a:schemeClr val="accent1"/>
              </a:solidFill>
            </a:endParaRPr>
          </a:p>
          <a:p>
            <a:pPr indent="0" lvl="0" marL="0" rtl="0" algn="ctr">
              <a:spcBef>
                <a:spcPts val="0"/>
              </a:spcBef>
              <a:spcAft>
                <a:spcPts val="0"/>
              </a:spcAft>
              <a:buNone/>
            </a:pPr>
            <a:r>
              <a:rPr lang="en" sz="1100">
                <a:solidFill>
                  <a:schemeClr val="accent1"/>
                </a:solidFill>
              </a:rPr>
              <a:t>64, 3</a:t>
            </a:r>
            <a:r>
              <a:rPr lang="en" sz="1100">
                <a:solidFill>
                  <a:schemeClr val="accent1"/>
                </a:solidFill>
              </a:rPr>
              <a:t>𝙆</a:t>
            </a:r>
            <a:endParaRPr sz="1100">
              <a:solidFill>
                <a:schemeClr val="accent1"/>
              </a:solidFill>
            </a:endParaRPr>
          </a:p>
        </p:txBody>
      </p:sp>
      <p:sp>
        <p:nvSpPr>
          <p:cNvPr id="218" name="Google Shape;218;p19"/>
          <p:cNvSpPr/>
          <p:nvPr/>
        </p:nvSpPr>
        <p:spPr>
          <a:xfrm rot="-5400000">
            <a:off x="7678579" y="2162646"/>
            <a:ext cx="1966800" cy="26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1"/>
                </a:solidFill>
              </a:rPr>
              <a:t>(Tanh + 1) / 2</a:t>
            </a:r>
            <a:endParaRPr sz="900">
              <a:solidFill>
                <a:schemeClr val="accent1"/>
              </a:solidFill>
            </a:endParaRPr>
          </a:p>
        </p:txBody>
      </p:sp>
      <p:sp>
        <p:nvSpPr>
          <p:cNvPr id="219" name="Google Shape;219;p19"/>
          <p:cNvSpPr txBox="1"/>
          <p:nvPr/>
        </p:nvSpPr>
        <p:spPr>
          <a:xfrm>
            <a:off x="-187259" y="2583600"/>
            <a:ext cx="12618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Lato"/>
                <a:ea typeface="Lato"/>
                <a:cs typeface="Lato"/>
                <a:sym typeface="Lato"/>
              </a:rPr>
              <a:t>3x256x256</a:t>
            </a:r>
            <a:endParaRPr sz="1100">
              <a:solidFill>
                <a:schemeClr val="accent1"/>
              </a:solidFill>
              <a:latin typeface="Lato"/>
              <a:ea typeface="Lato"/>
              <a:cs typeface="Lato"/>
              <a:sym typeface="Lato"/>
            </a:endParaRPr>
          </a:p>
        </p:txBody>
      </p:sp>
      <p:sp>
        <p:nvSpPr>
          <p:cNvPr id="220" name="Google Shape;220;p19"/>
          <p:cNvSpPr txBox="1"/>
          <p:nvPr/>
        </p:nvSpPr>
        <p:spPr>
          <a:xfrm rot="-5400000">
            <a:off x="8020725" y="2096600"/>
            <a:ext cx="189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Lato"/>
                <a:ea typeface="Lato"/>
                <a:cs typeface="Lato"/>
                <a:sym typeface="Lato"/>
              </a:rPr>
              <a:t>3</a:t>
            </a:r>
            <a:r>
              <a:rPr lang="en" sz="1100">
                <a:solidFill>
                  <a:schemeClr val="accent1"/>
                </a:solidFill>
              </a:rPr>
              <a:t>𝙆 (palette size)</a:t>
            </a:r>
            <a:r>
              <a:rPr lang="en" sz="1100">
                <a:solidFill>
                  <a:schemeClr val="accent1"/>
                </a:solidFill>
                <a:latin typeface="Lato"/>
                <a:ea typeface="Lato"/>
                <a:cs typeface="Lato"/>
                <a:sym typeface="Lato"/>
              </a:rPr>
              <a:t> </a:t>
            </a:r>
            <a:r>
              <a:rPr lang="en" sz="1100">
                <a:solidFill>
                  <a:schemeClr val="accent1"/>
                </a:solidFill>
                <a:latin typeface="Lato"/>
                <a:ea typeface="Lato"/>
                <a:cs typeface="Lato"/>
                <a:sym typeface="Lato"/>
              </a:rPr>
              <a:t>vector</a:t>
            </a:r>
            <a:endParaRPr sz="1100">
              <a:solidFill>
                <a:schemeClr val="accent1"/>
              </a:solidFill>
              <a:latin typeface="Lato"/>
              <a:ea typeface="Lato"/>
              <a:cs typeface="Lato"/>
              <a:sym typeface="Lato"/>
            </a:endParaRPr>
          </a:p>
        </p:txBody>
      </p:sp>
      <p:sp>
        <p:nvSpPr>
          <p:cNvPr id="221" name="Google Shape;221;p19"/>
          <p:cNvSpPr txBox="1"/>
          <p:nvPr/>
        </p:nvSpPr>
        <p:spPr>
          <a:xfrm>
            <a:off x="528175" y="3468913"/>
            <a:ext cx="30000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accent1"/>
              </a:buClr>
              <a:buSzPts val="1400"/>
              <a:buFont typeface="Lato"/>
              <a:buChar char="●"/>
            </a:pPr>
            <a:r>
              <a:rPr lang="en">
                <a:solidFill>
                  <a:schemeClr val="accent1"/>
                </a:solidFill>
                <a:latin typeface="Lato"/>
                <a:ea typeface="Lato"/>
                <a:cs typeface="Lato"/>
                <a:sym typeface="Lato"/>
              </a:rPr>
              <a:t>100 training epochs, batch size of 10</a:t>
            </a:r>
            <a:endParaRPr>
              <a:solidFill>
                <a:schemeClr val="accent1"/>
              </a:solidFill>
              <a:latin typeface="Lato"/>
              <a:ea typeface="Lato"/>
              <a:cs typeface="Lato"/>
              <a:sym typeface="Lato"/>
            </a:endParaRPr>
          </a:p>
          <a:p>
            <a:pPr indent="-317500" lvl="0" marL="457200" rtl="0" algn="l">
              <a:spcBef>
                <a:spcPts val="0"/>
              </a:spcBef>
              <a:spcAft>
                <a:spcPts val="0"/>
              </a:spcAft>
              <a:buClr>
                <a:schemeClr val="accent1"/>
              </a:buClr>
              <a:buSzPts val="1400"/>
              <a:buFont typeface="Lato"/>
              <a:buChar char="●"/>
            </a:pPr>
            <a:r>
              <a:rPr lang="en">
                <a:solidFill>
                  <a:schemeClr val="accent1"/>
                </a:solidFill>
                <a:latin typeface="Lato"/>
                <a:ea typeface="Lato"/>
                <a:cs typeface="Lato"/>
                <a:sym typeface="Lato"/>
              </a:rPr>
              <a:t>Palette size of 64 colors</a:t>
            </a:r>
            <a:endParaRPr>
              <a:solidFill>
                <a:schemeClr val="accent1"/>
              </a:solidFill>
              <a:latin typeface="Lato"/>
              <a:ea typeface="Lato"/>
              <a:cs typeface="Lato"/>
              <a:sym typeface="Lato"/>
            </a:endParaRPr>
          </a:p>
          <a:p>
            <a:pPr indent="-317500" lvl="0" marL="457200" rtl="0" algn="l">
              <a:spcBef>
                <a:spcPts val="0"/>
              </a:spcBef>
              <a:spcAft>
                <a:spcPts val="0"/>
              </a:spcAft>
              <a:buClr>
                <a:schemeClr val="accent1"/>
              </a:buClr>
              <a:buSzPts val="1400"/>
              <a:buFont typeface="Lato"/>
              <a:buChar char="●"/>
            </a:pPr>
            <a:r>
              <a:rPr lang="en">
                <a:solidFill>
                  <a:schemeClr val="accent1"/>
                </a:solidFill>
                <a:latin typeface="Lato"/>
                <a:ea typeface="Lato"/>
                <a:cs typeface="Lato"/>
                <a:sym typeface="Lato"/>
              </a:rPr>
              <a:t>Learning rate of 10^-4 w/ Adam optimizer</a:t>
            </a:r>
            <a:endParaRPr>
              <a:solidFill>
                <a:schemeClr val="accent1"/>
              </a:solidFill>
              <a:latin typeface="Lato"/>
              <a:ea typeface="Lato"/>
              <a:cs typeface="Lato"/>
              <a:sym typeface="Lato"/>
            </a:endParaRPr>
          </a:p>
          <a:p>
            <a:pPr indent="-317500" lvl="0" marL="457200" rtl="0" algn="l">
              <a:spcBef>
                <a:spcPts val="0"/>
              </a:spcBef>
              <a:spcAft>
                <a:spcPts val="0"/>
              </a:spcAft>
              <a:buClr>
                <a:schemeClr val="accent1"/>
              </a:buClr>
              <a:buSzPts val="1400"/>
              <a:buFont typeface="Lato"/>
              <a:buChar char="●"/>
            </a:pPr>
            <a:r>
              <a:rPr lang="en">
                <a:solidFill>
                  <a:schemeClr val="accent1"/>
                </a:solidFill>
                <a:latin typeface="Lato"/>
                <a:ea typeface="Lato"/>
                <a:cs typeface="Lato"/>
                <a:sym typeface="Lato"/>
              </a:rPr>
              <a:t>Implemented in PyTorch</a:t>
            </a:r>
            <a:endParaRPr>
              <a:solidFill>
                <a:schemeClr val="accent1"/>
              </a:solidFill>
              <a:latin typeface="Lato"/>
              <a:ea typeface="Lato"/>
              <a:cs typeface="Lato"/>
              <a:sym typeface="Lato"/>
            </a:endParaRPr>
          </a:p>
        </p:txBody>
      </p:sp>
      <p:sp>
        <p:nvSpPr>
          <p:cNvPr id="222" name="Google Shape;222;p19"/>
          <p:cNvSpPr/>
          <p:nvPr/>
        </p:nvSpPr>
        <p:spPr>
          <a:xfrm>
            <a:off x="3613225" y="2195600"/>
            <a:ext cx="262800" cy="156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9"/>
          <p:cNvSpPr/>
          <p:nvPr/>
        </p:nvSpPr>
        <p:spPr>
          <a:xfrm>
            <a:off x="5008506" y="2195600"/>
            <a:ext cx="262800" cy="156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9"/>
          <p:cNvSpPr/>
          <p:nvPr/>
        </p:nvSpPr>
        <p:spPr>
          <a:xfrm>
            <a:off x="6389578" y="2195600"/>
            <a:ext cx="262800" cy="156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9"/>
          <p:cNvSpPr/>
          <p:nvPr/>
        </p:nvSpPr>
        <p:spPr>
          <a:xfrm>
            <a:off x="783931" y="2195600"/>
            <a:ext cx="262800" cy="156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9"/>
          <p:cNvSpPr/>
          <p:nvPr/>
        </p:nvSpPr>
        <p:spPr>
          <a:xfrm>
            <a:off x="7608778" y="2195600"/>
            <a:ext cx="262800" cy="156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9"/>
          <p:cNvSpPr txBox="1"/>
          <p:nvPr/>
        </p:nvSpPr>
        <p:spPr>
          <a:xfrm>
            <a:off x="3555875" y="3494688"/>
            <a:ext cx="3000000" cy="1169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accent1"/>
              </a:buClr>
              <a:buSzPts val="1400"/>
              <a:buFont typeface="Lato"/>
              <a:buChar char="●"/>
            </a:pPr>
            <a:r>
              <a:rPr lang="en">
                <a:solidFill>
                  <a:schemeClr val="accent1"/>
                </a:solidFill>
                <a:latin typeface="Lato"/>
                <a:ea typeface="Lato"/>
                <a:cs typeface="Lato"/>
                <a:sym typeface="Lato"/>
              </a:rPr>
              <a:t>Input size is 3x256x256</a:t>
            </a:r>
            <a:endParaRPr>
              <a:solidFill>
                <a:schemeClr val="accent1"/>
              </a:solidFill>
              <a:latin typeface="Lato"/>
              <a:ea typeface="Lato"/>
              <a:cs typeface="Lato"/>
              <a:sym typeface="Lato"/>
            </a:endParaRPr>
          </a:p>
          <a:p>
            <a:pPr indent="-317500" lvl="1" marL="914400" rtl="0" algn="l">
              <a:spcBef>
                <a:spcPts val="0"/>
              </a:spcBef>
              <a:spcAft>
                <a:spcPts val="0"/>
              </a:spcAft>
              <a:buClr>
                <a:schemeClr val="accent1"/>
              </a:buClr>
              <a:buSzPts val="1400"/>
              <a:buFont typeface="Lato"/>
              <a:buChar char="○"/>
            </a:pPr>
            <a:r>
              <a:rPr lang="en">
                <a:solidFill>
                  <a:schemeClr val="accent1"/>
                </a:solidFill>
                <a:latin typeface="Lato"/>
                <a:ea typeface="Lato"/>
                <a:cs typeface="Lato"/>
                <a:sym typeface="Lato"/>
              </a:rPr>
              <a:t>Colors x Height x Width</a:t>
            </a:r>
            <a:endParaRPr>
              <a:solidFill>
                <a:schemeClr val="accent1"/>
              </a:solidFill>
              <a:latin typeface="Lato"/>
              <a:ea typeface="Lato"/>
              <a:cs typeface="Lato"/>
              <a:sym typeface="Lato"/>
            </a:endParaRPr>
          </a:p>
          <a:p>
            <a:pPr indent="-317500" lvl="0" marL="457200" rtl="0" algn="l">
              <a:spcBef>
                <a:spcPts val="0"/>
              </a:spcBef>
              <a:spcAft>
                <a:spcPts val="0"/>
              </a:spcAft>
              <a:buClr>
                <a:schemeClr val="accent1"/>
              </a:buClr>
              <a:buSzPts val="1400"/>
              <a:buFont typeface="Lato"/>
              <a:buChar char="●"/>
            </a:pPr>
            <a:r>
              <a:rPr lang="en">
                <a:solidFill>
                  <a:schemeClr val="accent1"/>
                </a:solidFill>
                <a:latin typeface="Lato"/>
                <a:ea typeface="Lato"/>
                <a:cs typeface="Lato"/>
                <a:sym typeface="Lato"/>
              </a:rPr>
              <a:t>Output size is 3</a:t>
            </a:r>
            <a:r>
              <a:rPr lang="en" sz="1100">
                <a:solidFill>
                  <a:schemeClr val="accent1"/>
                </a:solidFill>
              </a:rPr>
              <a:t>𝙆</a:t>
            </a:r>
            <a:endParaRPr sz="1100">
              <a:solidFill>
                <a:schemeClr val="accent1"/>
              </a:solidFill>
            </a:endParaRPr>
          </a:p>
          <a:p>
            <a:pPr indent="-298450" lvl="1" marL="914400" rtl="0" algn="l">
              <a:spcBef>
                <a:spcPts val="0"/>
              </a:spcBef>
              <a:spcAft>
                <a:spcPts val="0"/>
              </a:spcAft>
              <a:buClr>
                <a:schemeClr val="accent1"/>
              </a:buClr>
              <a:buSzPts val="1100"/>
              <a:buChar char="○"/>
            </a:pPr>
            <a:r>
              <a:rPr lang="en" sz="1100">
                <a:solidFill>
                  <a:schemeClr val="accent1"/>
                </a:solidFill>
              </a:rPr>
              <a:t>R, G, &amp; B values for each color (𝙆 colors)</a:t>
            </a:r>
            <a:endParaRPr sz="1100">
              <a:solidFill>
                <a:schemeClr val="accen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0"/>
          <p:cNvSpPr txBox="1"/>
          <p:nvPr>
            <p:ph type="title"/>
          </p:nvPr>
        </p:nvSpPr>
        <p:spPr>
          <a:xfrm>
            <a:off x="574950" y="560975"/>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233" name="Google Shape;233;p20"/>
          <p:cNvSpPr txBox="1"/>
          <p:nvPr>
            <p:ph idx="2" type="body"/>
          </p:nvPr>
        </p:nvSpPr>
        <p:spPr>
          <a:xfrm>
            <a:off x="2452350" y="830050"/>
            <a:ext cx="3629700" cy="82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Model minimum validation loss: 0.00309</a:t>
            </a:r>
            <a:endParaRPr b="1" sz="1400"/>
          </a:p>
          <a:p>
            <a:pPr indent="0" lvl="0" marL="0" rtl="0" algn="l">
              <a:spcBef>
                <a:spcPts val="0"/>
              </a:spcBef>
              <a:spcAft>
                <a:spcPts val="0"/>
              </a:spcAft>
              <a:buNone/>
            </a:pPr>
            <a:r>
              <a:rPr b="1" lang="en" sz="1400"/>
              <a:t>K-Means validation loss: 0.00486</a:t>
            </a:r>
            <a:endParaRPr b="1" sz="1400"/>
          </a:p>
          <a:p>
            <a:pPr indent="0" lvl="0" marL="0" rtl="0" algn="l">
              <a:spcBef>
                <a:spcPts val="0"/>
              </a:spcBef>
              <a:spcAft>
                <a:spcPts val="0"/>
              </a:spcAft>
              <a:buNone/>
            </a:pPr>
            <a:r>
              <a:rPr b="1" lang="en" sz="1400"/>
              <a:t>K-Means is 57.28% worse than CNN</a:t>
            </a:r>
            <a:endParaRPr b="1" sz="1400"/>
          </a:p>
        </p:txBody>
      </p:sp>
      <p:pic>
        <p:nvPicPr>
          <p:cNvPr id="234" name="Google Shape;234;p20"/>
          <p:cNvPicPr preferRelativeResize="0"/>
          <p:nvPr/>
        </p:nvPicPr>
        <p:blipFill>
          <a:blip r:embed="rId3">
            <a:alphaModFix/>
          </a:blip>
          <a:stretch>
            <a:fillRect/>
          </a:stretch>
        </p:blipFill>
        <p:spPr>
          <a:xfrm>
            <a:off x="3173850" y="1591587"/>
            <a:ext cx="3513286" cy="3137250"/>
          </a:xfrm>
          <a:prstGeom prst="rect">
            <a:avLst/>
          </a:prstGeom>
          <a:noFill/>
          <a:ln>
            <a:noFill/>
          </a:ln>
        </p:spPr>
      </p:pic>
      <p:pic>
        <p:nvPicPr>
          <p:cNvPr id="235" name="Google Shape;235;p20"/>
          <p:cNvPicPr preferRelativeResize="0"/>
          <p:nvPr/>
        </p:nvPicPr>
        <p:blipFill>
          <a:blip r:embed="rId4">
            <a:alphaModFix/>
          </a:blip>
          <a:stretch>
            <a:fillRect/>
          </a:stretch>
        </p:blipFill>
        <p:spPr>
          <a:xfrm>
            <a:off x="-1" y="1591575"/>
            <a:ext cx="3513279" cy="3137230"/>
          </a:xfrm>
          <a:prstGeom prst="rect">
            <a:avLst/>
          </a:prstGeom>
          <a:noFill/>
          <a:ln>
            <a:noFill/>
          </a:ln>
        </p:spPr>
      </p:pic>
      <p:sp>
        <p:nvSpPr>
          <p:cNvPr id="236" name="Google Shape;236;p20"/>
          <p:cNvSpPr txBox="1"/>
          <p:nvPr/>
        </p:nvSpPr>
        <p:spPr>
          <a:xfrm>
            <a:off x="1060938" y="4560675"/>
            <a:ext cx="1391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44444"/>
                </a:solidFill>
                <a:latin typeface="Lato"/>
                <a:ea typeface="Lato"/>
                <a:cs typeface="Lato"/>
                <a:sym typeface="Lato"/>
              </a:rPr>
              <a:t>Training Loss</a:t>
            </a:r>
            <a:endParaRPr>
              <a:solidFill>
                <a:srgbClr val="444444"/>
              </a:solidFill>
              <a:latin typeface="Lato"/>
              <a:ea typeface="Lato"/>
              <a:cs typeface="Lato"/>
              <a:sym typeface="Lato"/>
            </a:endParaRPr>
          </a:p>
        </p:txBody>
      </p:sp>
      <p:sp>
        <p:nvSpPr>
          <p:cNvPr id="237" name="Google Shape;237;p20"/>
          <p:cNvSpPr txBox="1"/>
          <p:nvPr/>
        </p:nvSpPr>
        <p:spPr>
          <a:xfrm>
            <a:off x="4234775" y="4560700"/>
            <a:ext cx="1391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44444"/>
                </a:solidFill>
                <a:latin typeface="Lato"/>
                <a:ea typeface="Lato"/>
                <a:cs typeface="Lato"/>
                <a:sym typeface="Lato"/>
              </a:rPr>
              <a:t>Validation</a:t>
            </a:r>
            <a:r>
              <a:rPr lang="en">
                <a:solidFill>
                  <a:srgbClr val="444444"/>
                </a:solidFill>
                <a:latin typeface="Lato"/>
                <a:ea typeface="Lato"/>
                <a:cs typeface="Lato"/>
                <a:sym typeface="Lato"/>
              </a:rPr>
              <a:t> Loss</a:t>
            </a:r>
            <a:endParaRPr>
              <a:solidFill>
                <a:srgbClr val="444444"/>
              </a:solidFill>
              <a:latin typeface="Lato"/>
              <a:ea typeface="Lato"/>
              <a:cs typeface="Lato"/>
              <a:sym typeface="Lato"/>
            </a:endParaRPr>
          </a:p>
        </p:txBody>
      </p:sp>
      <p:sp>
        <p:nvSpPr>
          <p:cNvPr id="238" name="Google Shape;238;p20"/>
          <p:cNvSpPr txBox="1"/>
          <p:nvPr/>
        </p:nvSpPr>
        <p:spPr>
          <a:xfrm>
            <a:off x="6396750" y="1648200"/>
            <a:ext cx="2654400" cy="18471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rgbClr val="444444"/>
              </a:buClr>
              <a:buSzPts val="1200"/>
              <a:buFont typeface="Lato"/>
              <a:buChar char="●"/>
            </a:pPr>
            <a:r>
              <a:rPr lang="en" sz="1200">
                <a:solidFill>
                  <a:srgbClr val="444444"/>
                </a:solidFill>
                <a:latin typeface="Lato"/>
                <a:ea typeface="Lato"/>
                <a:cs typeface="Lato"/>
                <a:sym typeface="Lato"/>
              </a:rPr>
              <a:t>Minimum validation loss occurs at epoch 8</a:t>
            </a:r>
            <a:endParaRPr sz="1200">
              <a:solidFill>
                <a:srgbClr val="444444"/>
              </a:solidFill>
              <a:latin typeface="Lato"/>
              <a:ea typeface="Lato"/>
              <a:cs typeface="Lato"/>
              <a:sym typeface="Lato"/>
            </a:endParaRPr>
          </a:p>
          <a:p>
            <a:pPr indent="-304800" lvl="0" marL="457200" rtl="0" algn="l">
              <a:spcBef>
                <a:spcPts val="0"/>
              </a:spcBef>
              <a:spcAft>
                <a:spcPts val="0"/>
              </a:spcAft>
              <a:buClr>
                <a:srgbClr val="444444"/>
              </a:buClr>
              <a:buSzPts val="1200"/>
              <a:buFont typeface="Lato"/>
              <a:buChar char="●"/>
            </a:pPr>
            <a:r>
              <a:rPr lang="en" sz="1200">
                <a:solidFill>
                  <a:srgbClr val="444444"/>
                </a:solidFill>
                <a:latin typeface="Lato"/>
                <a:ea typeface="Lato"/>
                <a:cs typeface="Lato"/>
                <a:sym typeface="Lato"/>
              </a:rPr>
              <a:t>Training loss continues to decrease after validation loss starts to climb up</a:t>
            </a:r>
            <a:endParaRPr sz="1200">
              <a:solidFill>
                <a:srgbClr val="444444"/>
              </a:solidFill>
              <a:latin typeface="Lato"/>
              <a:ea typeface="Lato"/>
              <a:cs typeface="Lato"/>
              <a:sym typeface="Lato"/>
            </a:endParaRPr>
          </a:p>
          <a:p>
            <a:pPr indent="-304800" lvl="0" marL="457200" rtl="0" algn="l">
              <a:spcBef>
                <a:spcPts val="0"/>
              </a:spcBef>
              <a:spcAft>
                <a:spcPts val="0"/>
              </a:spcAft>
              <a:buClr>
                <a:srgbClr val="444444"/>
              </a:buClr>
              <a:buSzPts val="1200"/>
              <a:buFont typeface="Lato"/>
              <a:buChar char="●"/>
            </a:pPr>
            <a:r>
              <a:rPr lang="en" sz="1200">
                <a:solidFill>
                  <a:srgbClr val="444444"/>
                </a:solidFill>
                <a:latin typeface="Lato"/>
                <a:ea typeface="Lato"/>
                <a:cs typeface="Lato"/>
                <a:sym typeface="Lato"/>
              </a:rPr>
              <a:t>Classic case of overfitting</a:t>
            </a:r>
            <a:endParaRPr sz="1200">
              <a:solidFill>
                <a:srgbClr val="444444"/>
              </a:solidFill>
              <a:latin typeface="Lato"/>
              <a:ea typeface="Lato"/>
              <a:cs typeface="Lato"/>
              <a:sym typeface="Lato"/>
            </a:endParaRPr>
          </a:p>
          <a:p>
            <a:pPr indent="-304800" lvl="0" marL="457200" rtl="0" algn="l">
              <a:spcBef>
                <a:spcPts val="0"/>
              </a:spcBef>
              <a:spcAft>
                <a:spcPts val="0"/>
              </a:spcAft>
              <a:buClr>
                <a:srgbClr val="444444"/>
              </a:buClr>
              <a:buSzPts val="1200"/>
              <a:buFont typeface="Lato"/>
              <a:buChar char="●"/>
            </a:pPr>
            <a:r>
              <a:rPr lang="en" sz="1200">
                <a:solidFill>
                  <a:srgbClr val="444444"/>
                </a:solidFill>
                <a:latin typeface="Lato"/>
                <a:ea typeface="Lato"/>
                <a:cs typeface="Lato"/>
                <a:sym typeface="Lato"/>
              </a:rPr>
              <a:t>Standard solution to overfitting is to train on a larger dataset</a:t>
            </a:r>
            <a:endParaRPr sz="1200">
              <a:solidFill>
                <a:srgbClr val="444444"/>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1"/>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Discussion &amp; Conclusions</a:t>
            </a:r>
            <a:endParaRPr/>
          </a:p>
        </p:txBody>
      </p:sp>
      <p:sp>
        <p:nvSpPr>
          <p:cNvPr id="244" name="Google Shape;244;p21"/>
          <p:cNvSpPr txBox="1"/>
          <p:nvPr>
            <p:ph idx="1" type="body"/>
          </p:nvPr>
        </p:nvSpPr>
        <p:spPr>
          <a:xfrm>
            <a:off x="729325" y="2078875"/>
            <a:ext cx="6713100" cy="2261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Our CNN model achieved comparable results to K-Means </a:t>
            </a:r>
            <a:endParaRPr sz="1400"/>
          </a:p>
          <a:p>
            <a:pPr indent="-317500" lvl="0" marL="457200" rtl="0" algn="l">
              <a:spcBef>
                <a:spcPts val="0"/>
              </a:spcBef>
              <a:spcAft>
                <a:spcPts val="0"/>
              </a:spcAft>
              <a:buSzPts val="1400"/>
              <a:buChar char="●"/>
            </a:pPr>
            <a:r>
              <a:rPr lang="en" sz="1400"/>
              <a:t>CNNs have been shown to perform well on classification tasks, palette generation has similar output structure as classification output, this example just requires swapping out last Softmax for classification models with a Tanh to achieve a range limited vector instead of a probability distribution vector</a:t>
            </a:r>
            <a:endParaRPr sz="1400"/>
          </a:p>
          <a:p>
            <a:pPr indent="-317500" lvl="0" marL="457200" rtl="0" algn="l">
              <a:spcBef>
                <a:spcPts val="0"/>
              </a:spcBef>
              <a:spcAft>
                <a:spcPts val="0"/>
              </a:spcAft>
              <a:buSzPts val="1400"/>
              <a:buChar char="●"/>
            </a:pPr>
            <a:r>
              <a:rPr lang="en" sz="1400"/>
              <a:t>Our CNN was “sloppily” trained (simple architecture, overfitted)</a:t>
            </a:r>
            <a:endParaRPr sz="1400"/>
          </a:p>
          <a:p>
            <a:pPr indent="-317500" lvl="0" marL="457200" rtl="0" algn="l">
              <a:spcBef>
                <a:spcPts val="0"/>
              </a:spcBef>
              <a:spcAft>
                <a:spcPts val="0"/>
              </a:spcAft>
              <a:buSzPts val="1400"/>
              <a:buChar char="●"/>
            </a:pPr>
            <a:r>
              <a:rPr lang="en" sz="1400"/>
              <a:t>Model has predictable runtime, written in PyTorch, can be easily run on GPU</a:t>
            </a:r>
            <a:endParaRPr sz="1400"/>
          </a:p>
          <a:p>
            <a:pPr indent="-317500" lvl="0" marL="457200" rtl="0" algn="l">
              <a:spcBef>
                <a:spcPts val="0"/>
              </a:spcBef>
              <a:spcAft>
                <a:spcPts val="0"/>
              </a:spcAft>
              <a:buSzPts val="1400"/>
              <a:buChar char="●"/>
            </a:pPr>
            <a:r>
              <a:rPr lang="en" sz="1400"/>
              <a:t>CNNs are a viable method of performing palette generation for CQ (could be used by large visual content distributors)</a:t>
            </a:r>
            <a:endParaRPr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2"/>
          <p:cNvSpPr txBox="1"/>
          <p:nvPr>
            <p:ph type="title"/>
          </p:nvPr>
        </p:nvSpPr>
        <p:spPr>
          <a:xfrm>
            <a:off x="729450" y="1322450"/>
            <a:ext cx="7688400" cy="2485500"/>
          </a:xfrm>
          <a:prstGeom prst="rect">
            <a:avLst/>
          </a:prstGeom>
        </p:spPr>
        <p:txBody>
          <a:bodyPr anchorCtr="0" anchor="t" bIns="91425" lIns="91425" spcFirstLastPara="1" rIns="91425" wrap="square" tIns="91425">
            <a:noAutofit/>
          </a:bodyPr>
          <a:lstStyle/>
          <a:p>
            <a:pPr indent="-406400" lvl="0" marL="457200" rtl="0" algn="l">
              <a:lnSpc>
                <a:spcPct val="115000"/>
              </a:lnSpc>
              <a:spcBef>
                <a:spcPts val="0"/>
              </a:spcBef>
              <a:spcAft>
                <a:spcPts val="0"/>
              </a:spcAft>
              <a:buClr>
                <a:schemeClr val="lt1"/>
              </a:buClr>
              <a:buSzPts val="2800"/>
              <a:buFont typeface="Lato"/>
              <a:buAutoNum type="arabicPeriod"/>
            </a:pPr>
            <a:r>
              <a:rPr lang="en" sz="2800">
                <a:latin typeface="Lato"/>
                <a:ea typeface="Lato"/>
                <a:cs typeface="Lato"/>
                <a:sym typeface="Lato"/>
              </a:rPr>
              <a:t>Can CNNs perform color quantization faster than K-Means?</a:t>
            </a:r>
            <a:endParaRPr sz="2800">
              <a:latin typeface="Lato"/>
              <a:ea typeface="Lato"/>
              <a:cs typeface="Lato"/>
              <a:sym typeface="Lato"/>
            </a:endParaRPr>
          </a:p>
          <a:p>
            <a:pPr indent="-406400" lvl="0" marL="457200" rtl="0" algn="l">
              <a:lnSpc>
                <a:spcPct val="115000"/>
              </a:lnSpc>
              <a:spcBef>
                <a:spcPts val="0"/>
              </a:spcBef>
              <a:spcAft>
                <a:spcPts val="0"/>
              </a:spcAft>
              <a:buClr>
                <a:schemeClr val="lt1"/>
              </a:buClr>
              <a:buSzPts val="2800"/>
              <a:buFont typeface="Lato"/>
              <a:buAutoNum type="arabicPeriod"/>
            </a:pPr>
            <a:r>
              <a:rPr lang="en" sz="2800">
                <a:latin typeface="Lato"/>
                <a:ea typeface="Lato"/>
                <a:cs typeface="Lato"/>
                <a:sym typeface="Lato"/>
              </a:rPr>
              <a:t>Is CNN color quantization </a:t>
            </a:r>
            <a:r>
              <a:rPr i="1" lang="en" sz="2800">
                <a:latin typeface="Lato"/>
                <a:ea typeface="Lato"/>
                <a:cs typeface="Lato"/>
                <a:sym typeface="Lato"/>
              </a:rPr>
              <a:t>really</a:t>
            </a:r>
            <a:r>
              <a:rPr lang="en" sz="2800">
                <a:latin typeface="Lato"/>
                <a:ea typeface="Lato"/>
                <a:cs typeface="Lato"/>
                <a:sym typeface="Lato"/>
              </a:rPr>
              <a:t> class specific?</a:t>
            </a:r>
            <a:endParaRPr sz="2800">
              <a:latin typeface="Lato"/>
              <a:ea typeface="Lato"/>
              <a:cs typeface="Lato"/>
              <a:sym typeface="Lato"/>
            </a:endParaRPr>
          </a:p>
          <a:p>
            <a:pPr indent="-406400" lvl="0" marL="457200" rtl="0" algn="l">
              <a:lnSpc>
                <a:spcPct val="115000"/>
              </a:lnSpc>
              <a:spcBef>
                <a:spcPts val="0"/>
              </a:spcBef>
              <a:spcAft>
                <a:spcPts val="0"/>
              </a:spcAft>
              <a:buClr>
                <a:schemeClr val="lt1"/>
              </a:buClr>
              <a:buSzPts val="2800"/>
              <a:buFont typeface="Lato"/>
              <a:buAutoNum type="arabicPeriod"/>
            </a:pPr>
            <a:r>
              <a:rPr lang="en" sz="2800">
                <a:latin typeface="Lato"/>
                <a:ea typeface="Lato"/>
                <a:cs typeface="Lato"/>
                <a:sym typeface="Lato"/>
              </a:rPr>
              <a:t>Can more complex convolutional models outperform the standard CNN on this task?</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3"/>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Runtime Comparison</a:t>
            </a:r>
            <a:endParaRPr/>
          </a:p>
        </p:txBody>
      </p:sp>
      <p:sp>
        <p:nvSpPr>
          <p:cNvPr id="255" name="Google Shape;255;p23"/>
          <p:cNvSpPr txBox="1"/>
          <p:nvPr>
            <p:ph idx="1" type="body"/>
          </p:nvPr>
        </p:nvSpPr>
        <p:spPr>
          <a:xfrm>
            <a:off x="729325" y="2078875"/>
            <a:ext cx="6713100" cy="1418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Hardware </a:t>
            </a:r>
            <a:r>
              <a:rPr i="1" lang="en" sz="1400"/>
              <a:t>does</a:t>
            </a:r>
            <a:r>
              <a:rPr lang="en" sz="1400"/>
              <a:t> matter!</a:t>
            </a:r>
            <a:endParaRPr sz="1400"/>
          </a:p>
          <a:p>
            <a:pPr indent="-317500" lvl="0" marL="457200" rtl="0" algn="l">
              <a:spcBef>
                <a:spcPts val="0"/>
              </a:spcBef>
              <a:spcAft>
                <a:spcPts val="0"/>
              </a:spcAft>
              <a:buSzPts val="1400"/>
              <a:buChar char="●"/>
            </a:pPr>
            <a:r>
              <a:rPr lang="en" sz="1400"/>
              <a:t>All tests run on 2x Intel Xeon E5-2650 v2s (16 cores total) and 1x NVidia Tesla M40 GPU, indicative of a modest server</a:t>
            </a:r>
            <a:endParaRPr sz="1400"/>
          </a:p>
          <a:p>
            <a:pPr indent="-317500" lvl="0" marL="457200" rtl="0" algn="l">
              <a:spcBef>
                <a:spcPts val="0"/>
              </a:spcBef>
              <a:spcAft>
                <a:spcPts val="0"/>
              </a:spcAft>
              <a:buSzPts val="1400"/>
              <a:buChar char="●"/>
            </a:pPr>
            <a:r>
              <a:rPr lang="en" sz="1400"/>
              <a:t>All written in PyTorch (for k-means, this means vectorizing operations)</a:t>
            </a:r>
            <a:endParaRPr sz="1400"/>
          </a:p>
          <a:p>
            <a:pPr indent="-317500" lvl="0" marL="457200" rtl="0" algn="l">
              <a:spcBef>
                <a:spcPts val="0"/>
              </a:spcBef>
              <a:spcAft>
                <a:spcPts val="0"/>
              </a:spcAft>
              <a:buSzPts val="1400"/>
              <a:buChar char="●"/>
            </a:pPr>
            <a:r>
              <a:rPr lang="en" sz="1400"/>
              <a:t>Minimal control logic in Python (slow)</a:t>
            </a:r>
            <a:endParaRPr sz="1400"/>
          </a:p>
        </p:txBody>
      </p:sp>
      <p:sp>
        <p:nvSpPr>
          <p:cNvPr id="256" name="Google Shape;256;p23"/>
          <p:cNvSpPr txBox="1"/>
          <p:nvPr/>
        </p:nvSpPr>
        <p:spPr>
          <a:xfrm>
            <a:off x="729325" y="3722000"/>
            <a:ext cx="1718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444444"/>
                </a:solidFill>
                <a:latin typeface="Lato"/>
                <a:ea typeface="Lato"/>
                <a:cs typeface="Lato"/>
                <a:sym typeface="Lato"/>
              </a:rPr>
              <a:t>a = torch.zeros(10**7)</a:t>
            </a:r>
            <a:endParaRPr sz="1200">
              <a:solidFill>
                <a:srgbClr val="444444"/>
              </a:solidFill>
              <a:latin typeface="Lato"/>
              <a:ea typeface="Lato"/>
              <a:cs typeface="Lato"/>
              <a:sym typeface="Lato"/>
            </a:endParaRPr>
          </a:p>
          <a:p>
            <a:pPr indent="0" lvl="0" marL="0" rtl="0" algn="l">
              <a:spcBef>
                <a:spcPts val="0"/>
              </a:spcBef>
              <a:spcAft>
                <a:spcPts val="0"/>
              </a:spcAft>
              <a:buNone/>
            </a:pPr>
            <a:r>
              <a:rPr lang="en" sz="1200">
                <a:solidFill>
                  <a:srgbClr val="444444"/>
                </a:solidFill>
                <a:latin typeface="Lato"/>
                <a:ea typeface="Lato"/>
                <a:cs typeface="Lato"/>
                <a:sym typeface="Lato"/>
              </a:rPr>
              <a:t>for i in range(10**7):</a:t>
            </a:r>
            <a:endParaRPr sz="1200">
              <a:solidFill>
                <a:srgbClr val="444444"/>
              </a:solidFill>
              <a:latin typeface="Lato"/>
              <a:ea typeface="Lato"/>
              <a:cs typeface="Lato"/>
              <a:sym typeface="Lato"/>
            </a:endParaRPr>
          </a:p>
          <a:p>
            <a:pPr indent="0" lvl="0" marL="0" rtl="0" algn="l">
              <a:spcBef>
                <a:spcPts val="0"/>
              </a:spcBef>
              <a:spcAft>
                <a:spcPts val="0"/>
              </a:spcAft>
              <a:buNone/>
            </a:pPr>
            <a:r>
              <a:rPr lang="en" sz="1200">
                <a:solidFill>
                  <a:srgbClr val="444444"/>
                </a:solidFill>
                <a:latin typeface="Lato"/>
                <a:ea typeface="Lato"/>
                <a:cs typeface="Lato"/>
                <a:sym typeface="Lato"/>
              </a:rPr>
              <a:t>      a[i] += 1</a:t>
            </a:r>
            <a:endParaRPr sz="1200">
              <a:solidFill>
                <a:srgbClr val="444444"/>
              </a:solidFill>
              <a:latin typeface="Lato"/>
              <a:ea typeface="Lato"/>
              <a:cs typeface="Lato"/>
              <a:sym typeface="Lato"/>
            </a:endParaRPr>
          </a:p>
        </p:txBody>
      </p:sp>
      <p:sp>
        <p:nvSpPr>
          <p:cNvPr id="257" name="Google Shape;257;p23"/>
          <p:cNvSpPr txBox="1"/>
          <p:nvPr/>
        </p:nvSpPr>
        <p:spPr>
          <a:xfrm>
            <a:off x="3895175" y="3722000"/>
            <a:ext cx="1718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444444"/>
                </a:solidFill>
                <a:latin typeface="Lato"/>
                <a:ea typeface="Lato"/>
                <a:cs typeface="Lato"/>
                <a:sym typeface="Lato"/>
              </a:rPr>
              <a:t>a = torch.zeros(10**7)</a:t>
            </a:r>
            <a:endParaRPr sz="1200">
              <a:solidFill>
                <a:srgbClr val="444444"/>
              </a:solidFill>
              <a:latin typeface="Lato"/>
              <a:ea typeface="Lato"/>
              <a:cs typeface="Lato"/>
              <a:sym typeface="Lato"/>
            </a:endParaRPr>
          </a:p>
          <a:p>
            <a:pPr indent="0" lvl="0" marL="0" rtl="0" algn="l">
              <a:spcBef>
                <a:spcPts val="0"/>
              </a:spcBef>
              <a:spcAft>
                <a:spcPts val="0"/>
              </a:spcAft>
              <a:buNone/>
            </a:pPr>
            <a:r>
              <a:rPr lang="en" sz="1200">
                <a:solidFill>
                  <a:srgbClr val="444444"/>
                </a:solidFill>
                <a:latin typeface="Lato"/>
                <a:ea typeface="Lato"/>
                <a:cs typeface="Lato"/>
                <a:sym typeface="Lato"/>
              </a:rPr>
              <a:t>a += 1</a:t>
            </a:r>
            <a:endParaRPr sz="1200">
              <a:solidFill>
                <a:srgbClr val="444444"/>
              </a:solidFill>
              <a:latin typeface="Lato"/>
              <a:ea typeface="Lato"/>
              <a:cs typeface="Lato"/>
              <a:sym typeface="Lato"/>
            </a:endParaRPr>
          </a:p>
        </p:txBody>
      </p:sp>
      <p:sp>
        <p:nvSpPr>
          <p:cNvPr id="258" name="Google Shape;258;p23"/>
          <p:cNvSpPr txBox="1"/>
          <p:nvPr/>
        </p:nvSpPr>
        <p:spPr>
          <a:xfrm>
            <a:off x="2290475" y="3496975"/>
            <a:ext cx="1604700" cy="1477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200">
              <a:solidFill>
                <a:srgbClr val="444444"/>
              </a:solidFill>
              <a:latin typeface="Lato"/>
              <a:ea typeface="Lato"/>
              <a:cs typeface="Lato"/>
              <a:sym typeface="Lato"/>
            </a:endParaRPr>
          </a:p>
          <a:p>
            <a:pPr indent="0" lvl="0" marL="0" rtl="0" algn="ctr">
              <a:spcBef>
                <a:spcPts val="0"/>
              </a:spcBef>
              <a:spcAft>
                <a:spcPts val="0"/>
              </a:spcAft>
              <a:buNone/>
            </a:pPr>
            <a:r>
              <a:rPr lang="en" sz="1200">
                <a:solidFill>
                  <a:srgbClr val="444444"/>
                </a:solidFill>
                <a:latin typeface="Lato"/>
                <a:ea typeface="Lato"/>
                <a:cs typeface="Lato"/>
                <a:sym typeface="Lato"/>
              </a:rPr>
              <a:t>The code on the right runs faster: uses PyTorch to optimize operation rather than using Python control logic</a:t>
            </a:r>
            <a:endParaRPr sz="1200">
              <a:solidFill>
                <a:srgbClr val="444444"/>
              </a:solidFill>
              <a:latin typeface="Lato"/>
              <a:ea typeface="Lato"/>
              <a:cs typeface="Lato"/>
              <a:sym typeface="Lato"/>
            </a:endParaRPr>
          </a:p>
        </p:txBody>
      </p:sp>
      <p:graphicFrame>
        <p:nvGraphicFramePr>
          <p:cNvPr id="259" name="Google Shape;259;p23"/>
          <p:cNvGraphicFramePr/>
          <p:nvPr/>
        </p:nvGraphicFramePr>
        <p:xfrm>
          <a:off x="5758575" y="3427550"/>
          <a:ext cx="3000000" cy="3000000"/>
        </p:xfrm>
        <a:graphic>
          <a:graphicData uri="http://schemas.openxmlformats.org/drawingml/2006/table">
            <a:tbl>
              <a:tblPr>
                <a:noFill/>
                <a:tableStyleId>{56B215FD-3E92-4F89-9A14-DAAF3BB83B63}</a:tableStyleId>
              </a:tblPr>
              <a:tblGrid>
                <a:gridCol w="900375"/>
                <a:gridCol w="819900"/>
                <a:gridCol w="798850"/>
              </a:tblGrid>
              <a:tr h="381000">
                <a:tc>
                  <a:txBody>
                    <a:bodyPr/>
                    <a:lstStyle/>
                    <a:p>
                      <a:pPr indent="0" lvl="0" marL="0" rtl="0" algn="ctr">
                        <a:spcBef>
                          <a:spcPts val="0"/>
                        </a:spcBef>
                        <a:spcAft>
                          <a:spcPts val="0"/>
                        </a:spcAft>
                        <a:buNone/>
                      </a:pPr>
                      <a:r>
                        <a:t/>
                      </a:r>
                      <a:endParaRPr sz="1200">
                        <a:solidFill>
                          <a:srgbClr val="444444"/>
                        </a:solidFill>
                      </a:endParaRPr>
                    </a:p>
                  </a:txBody>
                  <a:tcPr marT="91425" marB="91425" marR="91425" marL="91425"/>
                </a:tc>
                <a:tc>
                  <a:txBody>
                    <a:bodyPr/>
                    <a:lstStyle/>
                    <a:p>
                      <a:pPr indent="0" lvl="0" marL="0" rtl="0" algn="ctr">
                        <a:spcBef>
                          <a:spcPts val="0"/>
                        </a:spcBef>
                        <a:spcAft>
                          <a:spcPts val="0"/>
                        </a:spcAft>
                        <a:buNone/>
                      </a:pPr>
                      <a:r>
                        <a:rPr lang="en" sz="1200">
                          <a:solidFill>
                            <a:srgbClr val="444444"/>
                          </a:solidFill>
                        </a:rPr>
                        <a:t>CPU</a:t>
                      </a:r>
                      <a:endParaRPr sz="1200">
                        <a:solidFill>
                          <a:srgbClr val="444444"/>
                        </a:solidFill>
                      </a:endParaRPr>
                    </a:p>
                  </a:txBody>
                  <a:tcPr marT="91425" marB="91425" marR="91425" marL="91425"/>
                </a:tc>
                <a:tc>
                  <a:txBody>
                    <a:bodyPr/>
                    <a:lstStyle/>
                    <a:p>
                      <a:pPr indent="0" lvl="0" marL="0" rtl="0" algn="ctr">
                        <a:spcBef>
                          <a:spcPts val="0"/>
                        </a:spcBef>
                        <a:spcAft>
                          <a:spcPts val="0"/>
                        </a:spcAft>
                        <a:buNone/>
                      </a:pPr>
                      <a:r>
                        <a:rPr lang="en" sz="1200">
                          <a:solidFill>
                            <a:srgbClr val="444444"/>
                          </a:solidFill>
                        </a:rPr>
                        <a:t>GPU</a:t>
                      </a:r>
                      <a:endParaRPr sz="1200">
                        <a:solidFill>
                          <a:srgbClr val="444444"/>
                        </a:solidFill>
                      </a:endParaRPr>
                    </a:p>
                  </a:txBody>
                  <a:tcPr marT="91425" marB="91425" marR="91425" marL="91425"/>
                </a:tc>
              </a:tr>
              <a:tr h="381000">
                <a:tc>
                  <a:txBody>
                    <a:bodyPr/>
                    <a:lstStyle/>
                    <a:p>
                      <a:pPr indent="0" lvl="0" marL="0" rtl="0" algn="ctr">
                        <a:spcBef>
                          <a:spcPts val="0"/>
                        </a:spcBef>
                        <a:spcAft>
                          <a:spcPts val="0"/>
                        </a:spcAft>
                        <a:buNone/>
                      </a:pPr>
                      <a:r>
                        <a:rPr lang="en" sz="1200">
                          <a:solidFill>
                            <a:srgbClr val="444444"/>
                          </a:solidFill>
                        </a:rPr>
                        <a:t>CNN</a:t>
                      </a:r>
                      <a:endParaRPr sz="1200">
                        <a:solidFill>
                          <a:srgbClr val="444444"/>
                        </a:solidFill>
                      </a:endParaRPr>
                    </a:p>
                  </a:txBody>
                  <a:tcPr marT="91425" marB="91425" marR="91425" marL="91425"/>
                </a:tc>
                <a:tc>
                  <a:txBody>
                    <a:bodyPr/>
                    <a:lstStyle/>
                    <a:p>
                      <a:pPr indent="0" lvl="0" marL="0" rtl="0" algn="ctr">
                        <a:spcBef>
                          <a:spcPts val="0"/>
                        </a:spcBef>
                        <a:spcAft>
                          <a:spcPts val="0"/>
                        </a:spcAft>
                        <a:buNone/>
                      </a:pPr>
                      <a:r>
                        <a:rPr lang="en" sz="1200">
                          <a:solidFill>
                            <a:srgbClr val="444444"/>
                          </a:solidFill>
                        </a:rPr>
                        <a:t>9.38ms</a:t>
                      </a:r>
                      <a:endParaRPr sz="1200">
                        <a:solidFill>
                          <a:srgbClr val="444444"/>
                        </a:solidFill>
                      </a:endParaRPr>
                    </a:p>
                  </a:txBody>
                  <a:tcPr marT="91425" marB="91425" marR="91425" marL="91425"/>
                </a:tc>
                <a:tc>
                  <a:txBody>
                    <a:bodyPr/>
                    <a:lstStyle/>
                    <a:p>
                      <a:pPr indent="0" lvl="0" marL="0" rtl="0" algn="ctr">
                        <a:spcBef>
                          <a:spcPts val="0"/>
                        </a:spcBef>
                        <a:spcAft>
                          <a:spcPts val="0"/>
                        </a:spcAft>
                        <a:buNone/>
                      </a:pPr>
                      <a:r>
                        <a:rPr lang="en" sz="1200">
                          <a:solidFill>
                            <a:srgbClr val="444444"/>
                          </a:solidFill>
                        </a:rPr>
                        <a:t>5.18ms</a:t>
                      </a:r>
                      <a:endParaRPr sz="1200">
                        <a:solidFill>
                          <a:srgbClr val="444444"/>
                        </a:solidFill>
                      </a:endParaRPr>
                    </a:p>
                  </a:txBody>
                  <a:tcPr marT="91425" marB="91425" marR="91425" marL="91425"/>
                </a:tc>
              </a:tr>
              <a:tr h="381000">
                <a:tc>
                  <a:txBody>
                    <a:bodyPr/>
                    <a:lstStyle/>
                    <a:p>
                      <a:pPr indent="0" lvl="0" marL="0" rtl="0" algn="ctr">
                        <a:spcBef>
                          <a:spcPts val="0"/>
                        </a:spcBef>
                        <a:spcAft>
                          <a:spcPts val="0"/>
                        </a:spcAft>
                        <a:buNone/>
                      </a:pPr>
                      <a:r>
                        <a:rPr lang="en" sz="1200">
                          <a:solidFill>
                            <a:srgbClr val="444444"/>
                          </a:solidFill>
                        </a:rPr>
                        <a:t>K-Means</a:t>
                      </a:r>
                      <a:endParaRPr sz="1200">
                        <a:solidFill>
                          <a:srgbClr val="444444"/>
                        </a:solidFill>
                      </a:endParaRPr>
                    </a:p>
                  </a:txBody>
                  <a:tcPr marT="91425" marB="91425" marR="91425" marL="91425"/>
                </a:tc>
                <a:tc>
                  <a:txBody>
                    <a:bodyPr/>
                    <a:lstStyle/>
                    <a:p>
                      <a:pPr indent="0" lvl="0" marL="0" rtl="0" algn="ctr">
                        <a:spcBef>
                          <a:spcPts val="0"/>
                        </a:spcBef>
                        <a:spcAft>
                          <a:spcPts val="0"/>
                        </a:spcAft>
                        <a:buNone/>
                      </a:pPr>
                      <a:r>
                        <a:rPr lang="en" sz="1200">
                          <a:solidFill>
                            <a:srgbClr val="444444"/>
                          </a:solidFill>
                        </a:rPr>
                        <a:t>4.95s</a:t>
                      </a:r>
                      <a:endParaRPr sz="1200">
                        <a:solidFill>
                          <a:srgbClr val="444444"/>
                        </a:solidFill>
                      </a:endParaRPr>
                    </a:p>
                  </a:txBody>
                  <a:tcPr marT="91425" marB="91425" marR="91425" marL="91425"/>
                </a:tc>
                <a:tc>
                  <a:txBody>
                    <a:bodyPr/>
                    <a:lstStyle/>
                    <a:p>
                      <a:pPr indent="0" lvl="0" marL="0" rtl="0" algn="ctr">
                        <a:spcBef>
                          <a:spcPts val="0"/>
                        </a:spcBef>
                        <a:spcAft>
                          <a:spcPts val="0"/>
                        </a:spcAft>
                        <a:buNone/>
                      </a:pPr>
                      <a:r>
                        <a:rPr lang="en" sz="1200">
                          <a:solidFill>
                            <a:srgbClr val="444444"/>
                          </a:solidFill>
                        </a:rPr>
                        <a:t>6.30s</a:t>
                      </a:r>
                      <a:endParaRPr sz="1200">
                        <a:solidFill>
                          <a:srgbClr val="444444"/>
                        </a:solidFill>
                      </a:endParaRPr>
                    </a:p>
                  </a:txBody>
                  <a:tcPr marT="91425" marB="91425" marR="91425" marL="91425"/>
                </a:tc>
              </a:tr>
            </a:tbl>
          </a:graphicData>
        </a:graphic>
      </p:graphicFrame>
      <p:sp>
        <p:nvSpPr>
          <p:cNvPr id="260" name="Google Shape;260;p23"/>
          <p:cNvSpPr txBox="1"/>
          <p:nvPr/>
        </p:nvSpPr>
        <p:spPr>
          <a:xfrm>
            <a:off x="5809895" y="4570550"/>
            <a:ext cx="24165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44444"/>
                </a:solidFill>
                <a:latin typeface="Lato"/>
                <a:ea typeface="Lato"/>
                <a:cs typeface="Lato"/>
                <a:sym typeface="Lato"/>
              </a:rPr>
              <a:t>Average runtime on 50 images from the Places205 dataset</a:t>
            </a:r>
            <a:endParaRPr sz="1000">
              <a:solidFill>
                <a:srgbClr val="444444"/>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
                                        <p:tgtEl>
                                          <p:spTgt spid="259"/>
                                        </p:tgtEl>
                                      </p:cBhvr>
                                    </p:animEffect>
                                  </p:childTnLst>
                                </p:cTn>
                              </p:par>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4"/>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Specificity</a:t>
            </a:r>
            <a:endParaRPr/>
          </a:p>
        </p:txBody>
      </p:sp>
      <p:sp>
        <p:nvSpPr>
          <p:cNvPr id="266" name="Google Shape;266;p24"/>
          <p:cNvSpPr txBox="1"/>
          <p:nvPr>
            <p:ph idx="1" type="body"/>
          </p:nvPr>
        </p:nvSpPr>
        <p:spPr>
          <a:xfrm>
            <a:off x="139200" y="2137175"/>
            <a:ext cx="3343200" cy="2261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Trial 1: aquarium subset of Places205</a:t>
            </a:r>
            <a:endParaRPr sz="1400"/>
          </a:p>
          <a:p>
            <a:pPr indent="-317500" lvl="0" marL="457200" rtl="0" algn="l">
              <a:spcBef>
                <a:spcPts val="0"/>
              </a:spcBef>
              <a:spcAft>
                <a:spcPts val="0"/>
              </a:spcAft>
              <a:buSzPts val="1400"/>
              <a:buChar char="●"/>
            </a:pPr>
            <a:r>
              <a:rPr lang="en" sz="1400"/>
              <a:t>Trial 2: all “a” subsets of Places205</a:t>
            </a:r>
            <a:endParaRPr sz="1400"/>
          </a:p>
          <a:p>
            <a:pPr indent="-317500" lvl="0" marL="457200" rtl="0" algn="l">
              <a:spcBef>
                <a:spcPts val="0"/>
              </a:spcBef>
              <a:spcAft>
                <a:spcPts val="0"/>
              </a:spcAft>
              <a:buSzPts val="1400"/>
              <a:buChar char="●"/>
            </a:pPr>
            <a:r>
              <a:rPr lang="en" sz="1400"/>
              <a:t>Trial 3: all of Places 205</a:t>
            </a:r>
            <a:endParaRPr sz="1400"/>
          </a:p>
          <a:p>
            <a:pPr indent="-317500" lvl="0" marL="457200" rtl="0" algn="l">
              <a:spcBef>
                <a:spcPts val="0"/>
              </a:spcBef>
              <a:spcAft>
                <a:spcPts val="0"/>
              </a:spcAft>
              <a:buSzPts val="1400"/>
              <a:buChar char="●"/>
            </a:pPr>
            <a:r>
              <a:rPr lang="en" sz="1400"/>
              <a:t>For each trial, 15100 images were randomly sampled from the corresponding subset of Places205, 15000 were used for training and 100 were used for validation</a:t>
            </a:r>
            <a:endParaRPr sz="1400"/>
          </a:p>
        </p:txBody>
      </p:sp>
      <p:pic>
        <p:nvPicPr>
          <p:cNvPr id="267" name="Google Shape;267;p24"/>
          <p:cNvPicPr preferRelativeResize="0"/>
          <p:nvPr/>
        </p:nvPicPr>
        <p:blipFill>
          <a:blip r:embed="rId3">
            <a:alphaModFix/>
          </a:blip>
          <a:stretch>
            <a:fillRect/>
          </a:stretch>
        </p:blipFill>
        <p:spPr>
          <a:xfrm>
            <a:off x="3703700" y="2857670"/>
            <a:ext cx="2720174" cy="2076955"/>
          </a:xfrm>
          <a:prstGeom prst="rect">
            <a:avLst/>
          </a:prstGeom>
          <a:noFill/>
          <a:ln>
            <a:noFill/>
          </a:ln>
        </p:spPr>
      </p:pic>
      <p:pic>
        <p:nvPicPr>
          <p:cNvPr id="268" name="Google Shape;268;p24"/>
          <p:cNvPicPr preferRelativeResize="0"/>
          <p:nvPr/>
        </p:nvPicPr>
        <p:blipFill>
          <a:blip r:embed="rId4">
            <a:alphaModFix/>
          </a:blip>
          <a:stretch>
            <a:fillRect/>
          </a:stretch>
        </p:blipFill>
        <p:spPr>
          <a:xfrm>
            <a:off x="6423875" y="780736"/>
            <a:ext cx="2720174" cy="2076955"/>
          </a:xfrm>
          <a:prstGeom prst="rect">
            <a:avLst/>
          </a:prstGeom>
          <a:noFill/>
          <a:ln>
            <a:noFill/>
          </a:ln>
        </p:spPr>
      </p:pic>
      <p:pic>
        <p:nvPicPr>
          <p:cNvPr id="269" name="Google Shape;269;p24"/>
          <p:cNvPicPr preferRelativeResize="0"/>
          <p:nvPr/>
        </p:nvPicPr>
        <p:blipFill>
          <a:blip r:embed="rId5">
            <a:alphaModFix/>
          </a:blip>
          <a:stretch>
            <a:fillRect/>
          </a:stretch>
        </p:blipFill>
        <p:spPr>
          <a:xfrm>
            <a:off x="3703700" y="780725"/>
            <a:ext cx="2720174" cy="2076944"/>
          </a:xfrm>
          <a:prstGeom prst="rect">
            <a:avLst/>
          </a:prstGeom>
          <a:noFill/>
          <a:ln>
            <a:noFill/>
          </a:ln>
        </p:spPr>
      </p:pic>
      <p:sp>
        <p:nvSpPr>
          <p:cNvPr id="270" name="Google Shape;270;p24"/>
          <p:cNvSpPr txBox="1"/>
          <p:nvPr/>
        </p:nvSpPr>
        <p:spPr>
          <a:xfrm>
            <a:off x="3703688" y="932525"/>
            <a:ext cx="272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44444"/>
                </a:solidFill>
                <a:latin typeface="Lato"/>
                <a:ea typeface="Lato"/>
                <a:cs typeface="Lato"/>
                <a:sym typeface="Lato"/>
              </a:rPr>
              <a:t>Trial 1</a:t>
            </a:r>
            <a:endParaRPr sz="1000">
              <a:solidFill>
                <a:srgbClr val="444444"/>
              </a:solidFill>
              <a:latin typeface="Lato"/>
              <a:ea typeface="Lato"/>
              <a:cs typeface="Lato"/>
              <a:sym typeface="Lato"/>
            </a:endParaRPr>
          </a:p>
        </p:txBody>
      </p:sp>
      <p:sp>
        <p:nvSpPr>
          <p:cNvPr id="271" name="Google Shape;271;p24"/>
          <p:cNvSpPr txBox="1"/>
          <p:nvPr/>
        </p:nvSpPr>
        <p:spPr>
          <a:xfrm>
            <a:off x="6423850" y="932525"/>
            <a:ext cx="272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44444"/>
                </a:solidFill>
                <a:latin typeface="Lato"/>
                <a:ea typeface="Lato"/>
                <a:cs typeface="Lato"/>
                <a:sym typeface="Lato"/>
              </a:rPr>
              <a:t>Trial 2</a:t>
            </a:r>
            <a:endParaRPr sz="1000">
              <a:solidFill>
                <a:srgbClr val="444444"/>
              </a:solidFill>
              <a:latin typeface="Lato"/>
              <a:ea typeface="Lato"/>
              <a:cs typeface="Lato"/>
              <a:sym typeface="Lato"/>
            </a:endParaRPr>
          </a:p>
        </p:txBody>
      </p:sp>
      <p:sp>
        <p:nvSpPr>
          <p:cNvPr id="272" name="Google Shape;272;p24"/>
          <p:cNvSpPr txBox="1"/>
          <p:nvPr/>
        </p:nvSpPr>
        <p:spPr>
          <a:xfrm>
            <a:off x="3703738" y="2798800"/>
            <a:ext cx="272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44444"/>
                </a:solidFill>
                <a:latin typeface="Lato"/>
                <a:ea typeface="Lato"/>
                <a:cs typeface="Lato"/>
                <a:sym typeface="Lato"/>
              </a:rPr>
              <a:t>Trial 3</a:t>
            </a:r>
            <a:endParaRPr sz="1000">
              <a:solidFill>
                <a:srgbClr val="444444"/>
              </a:solidFill>
              <a:latin typeface="Lato"/>
              <a:ea typeface="Lato"/>
              <a:cs typeface="Lato"/>
              <a:sym typeface="Lato"/>
            </a:endParaRPr>
          </a:p>
        </p:txBody>
      </p:sp>
      <p:sp>
        <p:nvSpPr>
          <p:cNvPr id="273" name="Google Shape;273;p24"/>
          <p:cNvSpPr txBox="1"/>
          <p:nvPr/>
        </p:nvSpPr>
        <p:spPr>
          <a:xfrm>
            <a:off x="0" y="4934625"/>
            <a:ext cx="9144000" cy="16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500"/>
              <a:t>B. Zhou, A. Lapedriza, J. Xiao, A. Torralba, and A. Oliva. Learning Deep Features for Scene Recognition using Places Database. Advances in Neural Information Processing Systems 27 (NIPS), 2014.</a:t>
            </a:r>
            <a:endParaRPr sz="500"/>
          </a:p>
          <a:p>
            <a:pPr indent="0" lvl="0" marL="0" rtl="0" algn="l">
              <a:spcBef>
                <a:spcPts val="0"/>
              </a:spcBef>
              <a:spcAft>
                <a:spcPts val="0"/>
              </a:spcAft>
              <a:buNone/>
            </a:pPr>
            <a:r>
              <a:t/>
            </a:r>
            <a:endParaRPr sz="100">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Specificity</a:t>
            </a:r>
            <a:endParaRPr/>
          </a:p>
        </p:txBody>
      </p:sp>
      <p:sp>
        <p:nvSpPr>
          <p:cNvPr id="279" name="Google Shape;279;p25"/>
          <p:cNvSpPr txBox="1"/>
          <p:nvPr>
            <p:ph idx="1" type="body"/>
          </p:nvPr>
        </p:nvSpPr>
        <p:spPr>
          <a:xfrm>
            <a:off x="729325" y="2078875"/>
            <a:ext cx="7556100" cy="2261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Lower minimum validation loss with higher variability in data</a:t>
            </a:r>
            <a:endParaRPr sz="1400"/>
          </a:p>
          <a:p>
            <a:pPr indent="-317500" lvl="0" marL="457200" rtl="0" algn="l">
              <a:spcBef>
                <a:spcPts val="0"/>
              </a:spcBef>
              <a:spcAft>
                <a:spcPts val="0"/>
              </a:spcAft>
              <a:buSzPts val="1400"/>
              <a:buChar char="●"/>
            </a:pPr>
            <a:r>
              <a:rPr lang="en" sz="1400"/>
              <a:t>CNN is </a:t>
            </a:r>
            <a:r>
              <a:rPr b="1" i="1" lang="en" sz="1400"/>
              <a:t>not</a:t>
            </a:r>
            <a:r>
              <a:rPr lang="en" sz="1400"/>
              <a:t> class specific in color quantization</a:t>
            </a:r>
            <a:endParaRPr sz="1400"/>
          </a:p>
          <a:p>
            <a:pPr indent="-317500" lvl="0" marL="457200" rtl="0" algn="l">
              <a:spcBef>
                <a:spcPts val="0"/>
              </a:spcBef>
              <a:spcAft>
                <a:spcPts val="0"/>
              </a:spcAft>
              <a:buSzPts val="1400"/>
              <a:buChar char="●"/>
            </a:pPr>
            <a:r>
              <a:rPr lang="en" sz="1400"/>
              <a:t>Overfitting occurs when there is low variability in data / too little data, increasing variability appears to have curbed the effects of overfitting (better minimum validation loss)</a:t>
            </a:r>
            <a:endParaRPr sz="1400"/>
          </a:p>
          <a:p>
            <a:pPr indent="-317500" lvl="0" marL="457200" rtl="0" algn="l">
              <a:spcBef>
                <a:spcPts val="0"/>
              </a:spcBef>
              <a:spcAft>
                <a:spcPts val="0"/>
              </a:spcAft>
              <a:buSzPts val="1400"/>
              <a:buChar char="●"/>
            </a:pPr>
            <a:r>
              <a:rPr lang="en" sz="1400"/>
              <a:t>Model is still able to overfit as validation loss spikes back up by epoch 10 - increasing data size would likely solve this, model can </a:t>
            </a:r>
            <a:r>
              <a:rPr lang="en" sz="1400"/>
              <a:t>perform</a:t>
            </a:r>
            <a:r>
              <a:rPr lang="en" sz="1400"/>
              <a:t> general color quantization</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6"/>
          <p:cNvSpPr txBox="1"/>
          <p:nvPr>
            <p:ph type="title"/>
          </p:nvPr>
        </p:nvSpPr>
        <p:spPr>
          <a:xfrm>
            <a:off x="501950" y="553811"/>
            <a:ext cx="42336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Complex Models</a:t>
            </a:r>
            <a:endParaRPr/>
          </a:p>
        </p:txBody>
      </p:sp>
      <p:pic>
        <p:nvPicPr>
          <p:cNvPr id="285" name="Google Shape;285;p26"/>
          <p:cNvPicPr preferRelativeResize="0"/>
          <p:nvPr/>
        </p:nvPicPr>
        <p:blipFill>
          <a:blip r:embed="rId3">
            <a:alphaModFix/>
          </a:blip>
          <a:stretch>
            <a:fillRect/>
          </a:stretch>
        </p:blipFill>
        <p:spPr>
          <a:xfrm>
            <a:off x="524550" y="3089000"/>
            <a:ext cx="3237050" cy="1508075"/>
          </a:xfrm>
          <a:prstGeom prst="rect">
            <a:avLst/>
          </a:prstGeom>
          <a:noFill/>
          <a:ln>
            <a:noFill/>
          </a:ln>
        </p:spPr>
      </p:pic>
      <p:pic>
        <p:nvPicPr>
          <p:cNvPr descr="Review: ResNet — Winner of ILSVRC 2015 (Image Classification, Localization, Detection)" id="286" name="Google Shape;286;p26"/>
          <p:cNvPicPr preferRelativeResize="0"/>
          <p:nvPr/>
        </p:nvPicPr>
        <p:blipFill rotWithShape="1">
          <a:blip r:embed="rId4">
            <a:alphaModFix/>
          </a:blip>
          <a:srcRect b="63560" l="0" r="0" t="0"/>
          <a:stretch/>
        </p:blipFill>
        <p:spPr>
          <a:xfrm>
            <a:off x="74038" y="2424600"/>
            <a:ext cx="4138075" cy="664400"/>
          </a:xfrm>
          <a:prstGeom prst="rect">
            <a:avLst/>
          </a:prstGeom>
          <a:noFill/>
          <a:ln>
            <a:noFill/>
          </a:ln>
        </p:spPr>
      </p:pic>
      <p:sp>
        <p:nvSpPr>
          <p:cNvPr id="287" name="Google Shape;287;p26"/>
          <p:cNvSpPr txBox="1"/>
          <p:nvPr>
            <p:ph type="title"/>
          </p:nvPr>
        </p:nvSpPr>
        <p:spPr>
          <a:xfrm>
            <a:off x="74000" y="2018050"/>
            <a:ext cx="4138200" cy="40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sz="1800"/>
              <a:t>Resnet</a:t>
            </a:r>
            <a:endParaRPr b="0" sz="1800"/>
          </a:p>
        </p:txBody>
      </p:sp>
      <p:sp>
        <p:nvSpPr>
          <p:cNvPr id="288" name="Google Shape;288;p26"/>
          <p:cNvSpPr txBox="1"/>
          <p:nvPr/>
        </p:nvSpPr>
        <p:spPr>
          <a:xfrm>
            <a:off x="0" y="4830700"/>
            <a:ext cx="9144000" cy="1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t>Tsang, Sik-Ho. “Review: ResNet - Winner of ILSVRC 2015 (Image Classification, Localization, Detection).” </a:t>
            </a:r>
            <a:r>
              <a:rPr i="1" lang="en" sz="500"/>
              <a:t>Medium</a:t>
            </a:r>
            <a:r>
              <a:rPr lang="en" sz="500"/>
              <a:t>, Towards Data Science, 20 Mar. 2019, towardsdatascience.com/review-resnet-winner-of-ilsvrc-2015-image-classification-localization-detection-e39402bfa5d8., Larsson, G., Maire, M., &amp; Shakhnarovich, G. (2017). FractalNet: Ultra-Deep Neural Networks without Residuals. In </a:t>
            </a:r>
            <a:r>
              <a:rPr i="1" lang="en" sz="500"/>
              <a:t>ICLR</a:t>
            </a:r>
            <a:r>
              <a:rPr lang="en" sz="500"/>
              <a:t>.</a:t>
            </a:r>
            <a:endParaRPr sz="500"/>
          </a:p>
        </p:txBody>
      </p:sp>
      <p:pic>
        <p:nvPicPr>
          <p:cNvPr descr="Densely Connected Convolutional Networks (DenseNet 2017 CVPR)_u010598445的专栏-CSDN博客" id="289" name="Google Shape;289;p26"/>
          <p:cNvPicPr preferRelativeResize="0"/>
          <p:nvPr/>
        </p:nvPicPr>
        <p:blipFill>
          <a:blip r:embed="rId5">
            <a:alphaModFix/>
          </a:blip>
          <a:stretch>
            <a:fillRect/>
          </a:stretch>
        </p:blipFill>
        <p:spPr>
          <a:xfrm>
            <a:off x="5120800" y="887328"/>
            <a:ext cx="3142601" cy="2107125"/>
          </a:xfrm>
          <a:prstGeom prst="rect">
            <a:avLst/>
          </a:prstGeom>
          <a:noFill/>
          <a:ln>
            <a:noFill/>
          </a:ln>
        </p:spPr>
      </p:pic>
      <p:sp>
        <p:nvSpPr>
          <p:cNvPr id="290" name="Google Shape;290;p26"/>
          <p:cNvSpPr txBox="1"/>
          <p:nvPr>
            <p:ph type="title"/>
          </p:nvPr>
        </p:nvSpPr>
        <p:spPr>
          <a:xfrm>
            <a:off x="4623000" y="480825"/>
            <a:ext cx="4138200" cy="40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sz="1800"/>
              <a:t>Fractalnet</a:t>
            </a:r>
            <a:endParaRPr b="0" sz="1800"/>
          </a:p>
        </p:txBody>
      </p:sp>
      <p:sp>
        <p:nvSpPr>
          <p:cNvPr id="291" name="Google Shape;291;p26"/>
          <p:cNvSpPr txBox="1"/>
          <p:nvPr>
            <p:ph type="title"/>
          </p:nvPr>
        </p:nvSpPr>
        <p:spPr>
          <a:xfrm>
            <a:off x="4735550" y="3089000"/>
            <a:ext cx="4138200" cy="40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sz="1800"/>
              <a:t>Maxout</a:t>
            </a:r>
            <a:endParaRPr b="0" sz="1800"/>
          </a:p>
        </p:txBody>
      </p:sp>
      <p:sp>
        <p:nvSpPr>
          <p:cNvPr id="292" name="Google Shape;292;p26"/>
          <p:cNvSpPr/>
          <p:nvPr/>
        </p:nvSpPr>
        <p:spPr>
          <a:xfrm>
            <a:off x="6079700" y="3546475"/>
            <a:ext cx="1449900" cy="225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444444"/>
                </a:solidFill>
              </a:rPr>
              <a:t>C </a:t>
            </a:r>
            <a:r>
              <a:rPr lang="en" sz="1200">
                <a:solidFill>
                  <a:srgbClr val="444444"/>
                </a:solidFill>
              </a:rPr>
              <a:t>* nf x H x W</a:t>
            </a:r>
            <a:endParaRPr sz="1200">
              <a:solidFill>
                <a:srgbClr val="444444"/>
              </a:solidFill>
            </a:endParaRPr>
          </a:p>
        </p:txBody>
      </p:sp>
      <p:sp>
        <p:nvSpPr>
          <p:cNvPr id="293" name="Google Shape;293;p26"/>
          <p:cNvSpPr/>
          <p:nvPr/>
        </p:nvSpPr>
        <p:spPr>
          <a:xfrm>
            <a:off x="6629750" y="3823350"/>
            <a:ext cx="349800" cy="699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6"/>
          <p:cNvSpPr/>
          <p:nvPr/>
        </p:nvSpPr>
        <p:spPr>
          <a:xfrm>
            <a:off x="6079700" y="4573625"/>
            <a:ext cx="1449900" cy="225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444444"/>
                </a:solidFill>
              </a:rPr>
              <a:t>nf</a:t>
            </a:r>
            <a:r>
              <a:rPr lang="en" sz="1200">
                <a:solidFill>
                  <a:srgbClr val="444444"/>
                </a:solidFill>
              </a:rPr>
              <a:t> x H x W</a:t>
            </a:r>
            <a:endParaRPr sz="1200">
              <a:solidFill>
                <a:srgbClr val="444444"/>
              </a:solidFill>
            </a:endParaRPr>
          </a:p>
        </p:txBody>
      </p:sp>
      <p:sp>
        <p:nvSpPr>
          <p:cNvPr id="295" name="Google Shape;295;p26"/>
          <p:cNvSpPr txBox="1"/>
          <p:nvPr/>
        </p:nvSpPr>
        <p:spPr>
          <a:xfrm>
            <a:off x="7129200" y="3803550"/>
            <a:ext cx="1632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444444"/>
                </a:solidFill>
                <a:latin typeface="Lato"/>
                <a:ea typeface="Lato"/>
                <a:cs typeface="Lato"/>
                <a:sym typeface="Lato"/>
              </a:rPr>
              <a:t>Take maximum value among C channels at each position</a:t>
            </a:r>
            <a:endParaRPr sz="1200">
              <a:solidFill>
                <a:srgbClr val="444444"/>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7"/>
          <p:cNvSpPr txBox="1"/>
          <p:nvPr>
            <p:ph type="title"/>
          </p:nvPr>
        </p:nvSpPr>
        <p:spPr>
          <a:xfrm>
            <a:off x="501950" y="550325"/>
            <a:ext cx="6863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Complex Models (aquarium subset)</a:t>
            </a:r>
            <a:endParaRPr/>
          </a:p>
        </p:txBody>
      </p:sp>
      <p:pic>
        <p:nvPicPr>
          <p:cNvPr id="301" name="Google Shape;301;p27"/>
          <p:cNvPicPr preferRelativeResize="0"/>
          <p:nvPr/>
        </p:nvPicPr>
        <p:blipFill>
          <a:blip r:embed="rId3">
            <a:alphaModFix/>
          </a:blip>
          <a:stretch>
            <a:fillRect/>
          </a:stretch>
        </p:blipFill>
        <p:spPr>
          <a:xfrm>
            <a:off x="1630575" y="1085525"/>
            <a:ext cx="2941426" cy="2028977"/>
          </a:xfrm>
          <a:prstGeom prst="rect">
            <a:avLst/>
          </a:prstGeom>
          <a:noFill/>
          <a:ln>
            <a:noFill/>
          </a:ln>
        </p:spPr>
      </p:pic>
      <p:pic>
        <p:nvPicPr>
          <p:cNvPr id="302" name="Google Shape;302;p27"/>
          <p:cNvPicPr preferRelativeResize="0"/>
          <p:nvPr/>
        </p:nvPicPr>
        <p:blipFill>
          <a:blip r:embed="rId4">
            <a:alphaModFix/>
          </a:blip>
          <a:stretch>
            <a:fillRect/>
          </a:stretch>
        </p:blipFill>
        <p:spPr>
          <a:xfrm>
            <a:off x="4572000" y="1085525"/>
            <a:ext cx="2941426" cy="2028979"/>
          </a:xfrm>
          <a:prstGeom prst="rect">
            <a:avLst/>
          </a:prstGeom>
          <a:noFill/>
          <a:ln>
            <a:noFill/>
          </a:ln>
        </p:spPr>
      </p:pic>
      <p:pic>
        <p:nvPicPr>
          <p:cNvPr id="303" name="Google Shape;303;p27"/>
          <p:cNvPicPr preferRelativeResize="0"/>
          <p:nvPr/>
        </p:nvPicPr>
        <p:blipFill>
          <a:blip r:embed="rId5">
            <a:alphaModFix/>
          </a:blip>
          <a:stretch>
            <a:fillRect/>
          </a:stretch>
        </p:blipFill>
        <p:spPr>
          <a:xfrm>
            <a:off x="1630575" y="3114502"/>
            <a:ext cx="2941426" cy="2028989"/>
          </a:xfrm>
          <a:prstGeom prst="rect">
            <a:avLst/>
          </a:prstGeom>
          <a:noFill/>
          <a:ln>
            <a:noFill/>
          </a:ln>
        </p:spPr>
      </p:pic>
      <p:pic>
        <p:nvPicPr>
          <p:cNvPr id="304" name="Google Shape;304;p27"/>
          <p:cNvPicPr preferRelativeResize="0"/>
          <p:nvPr/>
        </p:nvPicPr>
        <p:blipFill>
          <a:blip r:embed="rId6">
            <a:alphaModFix/>
          </a:blip>
          <a:stretch>
            <a:fillRect/>
          </a:stretch>
        </p:blipFill>
        <p:spPr>
          <a:xfrm>
            <a:off x="4572000" y="3114502"/>
            <a:ext cx="2941426" cy="2028998"/>
          </a:xfrm>
          <a:prstGeom prst="rect">
            <a:avLst/>
          </a:prstGeom>
          <a:noFill/>
          <a:ln>
            <a:noFill/>
          </a:ln>
        </p:spPr>
      </p:pic>
      <p:sp>
        <p:nvSpPr>
          <p:cNvPr id="305" name="Google Shape;305;p27"/>
          <p:cNvSpPr txBox="1"/>
          <p:nvPr/>
        </p:nvSpPr>
        <p:spPr>
          <a:xfrm>
            <a:off x="1741225" y="1085525"/>
            <a:ext cx="272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44444"/>
                </a:solidFill>
                <a:latin typeface="Lato"/>
                <a:ea typeface="Lato"/>
                <a:cs typeface="Lato"/>
                <a:sym typeface="Lato"/>
              </a:rPr>
              <a:t>Standard CNN</a:t>
            </a:r>
            <a:endParaRPr sz="1000">
              <a:solidFill>
                <a:srgbClr val="444444"/>
              </a:solidFill>
              <a:latin typeface="Lato"/>
              <a:ea typeface="Lato"/>
              <a:cs typeface="Lato"/>
              <a:sym typeface="Lato"/>
            </a:endParaRPr>
          </a:p>
        </p:txBody>
      </p:sp>
      <p:sp>
        <p:nvSpPr>
          <p:cNvPr id="306" name="Google Shape;306;p27"/>
          <p:cNvSpPr txBox="1"/>
          <p:nvPr/>
        </p:nvSpPr>
        <p:spPr>
          <a:xfrm>
            <a:off x="4682663" y="1085525"/>
            <a:ext cx="272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44444"/>
                </a:solidFill>
                <a:latin typeface="Lato"/>
                <a:ea typeface="Lato"/>
                <a:cs typeface="Lato"/>
                <a:sym typeface="Lato"/>
              </a:rPr>
              <a:t>Resnet</a:t>
            </a:r>
            <a:endParaRPr sz="1000">
              <a:solidFill>
                <a:srgbClr val="444444"/>
              </a:solidFill>
              <a:latin typeface="Lato"/>
              <a:ea typeface="Lato"/>
              <a:cs typeface="Lato"/>
              <a:sym typeface="Lato"/>
            </a:endParaRPr>
          </a:p>
        </p:txBody>
      </p:sp>
      <p:sp>
        <p:nvSpPr>
          <p:cNvPr id="307" name="Google Shape;307;p27"/>
          <p:cNvSpPr txBox="1"/>
          <p:nvPr/>
        </p:nvSpPr>
        <p:spPr>
          <a:xfrm>
            <a:off x="1741225" y="3114500"/>
            <a:ext cx="272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44444"/>
                </a:solidFill>
                <a:latin typeface="Lato"/>
                <a:ea typeface="Lato"/>
                <a:cs typeface="Lato"/>
                <a:sym typeface="Lato"/>
              </a:rPr>
              <a:t>Maxout</a:t>
            </a:r>
            <a:endParaRPr sz="1000">
              <a:solidFill>
                <a:srgbClr val="444444"/>
              </a:solidFill>
              <a:latin typeface="Lato"/>
              <a:ea typeface="Lato"/>
              <a:cs typeface="Lato"/>
              <a:sym typeface="Lato"/>
            </a:endParaRPr>
          </a:p>
        </p:txBody>
      </p:sp>
      <p:sp>
        <p:nvSpPr>
          <p:cNvPr id="308" name="Google Shape;308;p27"/>
          <p:cNvSpPr txBox="1"/>
          <p:nvPr/>
        </p:nvSpPr>
        <p:spPr>
          <a:xfrm>
            <a:off x="4682663" y="3114500"/>
            <a:ext cx="272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44444"/>
                </a:solidFill>
                <a:latin typeface="Lato"/>
                <a:ea typeface="Lato"/>
                <a:cs typeface="Lato"/>
                <a:sym typeface="Lato"/>
              </a:rPr>
              <a:t>Fractalnet</a:t>
            </a:r>
            <a:endParaRPr sz="1000">
              <a:solidFill>
                <a:srgbClr val="444444"/>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28"/>
          <p:cNvPicPr preferRelativeResize="0"/>
          <p:nvPr/>
        </p:nvPicPr>
        <p:blipFill>
          <a:blip r:embed="rId3">
            <a:alphaModFix/>
          </a:blip>
          <a:stretch>
            <a:fillRect/>
          </a:stretch>
        </p:blipFill>
        <p:spPr>
          <a:xfrm>
            <a:off x="4682675" y="3125600"/>
            <a:ext cx="2720101" cy="2040076"/>
          </a:xfrm>
          <a:prstGeom prst="rect">
            <a:avLst/>
          </a:prstGeom>
          <a:noFill/>
          <a:ln>
            <a:noFill/>
          </a:ln>
        </p:spPr>
      </p:pic>
      <p:pic>
        <p:nvPicPr>
          <p:cNvPr id="314" name="Google Shape;314;p28"/>
          <p:cNvPicPr preferRelativeResize="0"/>
          <p:nvPr/>
        </p:nvPicPr>
        <p:blipFill>
          <a:blip r:embed="rId4">
            <a:alphaModFix/>
          </a:blip>
          <a:stretch>
            <a:fillRect/>
          </a:stretch>
        </p:blipFill>
        <p:spPr>
          <a:xfrm>
            <a:off x="1741225" y="3114500"/>
            <a:ext cx="2720101" cy="2040074"/>
          </a:xfrm>
          <a:prstGeom prst="rect">
            <a:avLst/>
          </a:prstGeom>
          <a:noFill/>
          <a:ln>
            <a:noFill/>
          </a:ln>
        </p:spPr>
      </p:pic>
      <p:pic>
        <p:nvPicPr>
          <p:cNvPr id="315" name="Google Shape;315;p28"/>
          <p:cNvPicPr preferRelativeResize="0"/>
          <p:nvPr/>
        </p:nvPicPr>
        <p:blipFill>
          <a:blip r:embed="rId5">
            <a:alphaModFix/>
          </a:blip>
          <a:stretch>
            <a:fillRect/>
          </a:stretch>
        </p:blipFill>
        <p:spPr>
          <a:xfrm>
            <a:off x="4682675" y="1085525"/>
            <a:ext cx="2720101" cy="2040076"/>
          </a:xfrm>
          <a:prstGeom prst="rect">
            <a:avLst/>
          </a:prstGeom>
          <a:noFill/>
          <a:ln>
            <a:noFill/>
          </a:ln>
        </p:spPr>
      </p:pic>
      <p:pic>
        <p:nvPicPr>
          <p:cNvPr id="316" name="Google Shape;316;p28"/>
          <p:cNvPicPr preferRelativeResize="0"/>
          <p:nvPr/>
        </p:nvPicPr>
        <p:blipFill>
          <a:blip r:embed="rId6">
            <a:alphaModFix/>
          </a:blip>
          <a:stretch>
            <a:fillRect/>
          </a:stretch>
        </p:blipFill>
        <p:spPr>
          <a:xfrm>
            <a:off x="1741225" y="1085525"/>
            <a:ext cx="2720101" cy="2040080"/>
          </a:xfrm>
          <a:prstGeom prst="rect">
            <a:avLst/>
          </a:prstGeom>
          <a:noFill/>
          <a:ln>
            <a:noFill/>
          </a:ln>
        </p:spPr>
      </p:pic>
      <p:sp>
        <p:nvSpPr>
          <p:cNvPr id="317" name="Google Shape;317;p28"/>
          <p:cNvSpPr txBox="1"/>
          <p:nvPr>
            <p:ph type="title"/>
          </p:nvPr>
        </p:nvSpPr>
        <p:spPr>
          <a:xfrm>
            <a:off x="501950" y="550325"/>
            <a:ext cx="6863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Complex Models (whole Places205)</a:t>
            </a:r>
            <a:endParaRPr/>
          </a:p>
        </p:txBody>
      </p:sp>
      <p:sp>
        <p:nvSpPr>
          <p:cNvPr id="318" name="Google Shape;318;p28"/>
          <p:cNvSpPr txBox="1"/>
          <p:nvPr/>
        </p:nvSpPr>
        <p:spPr>
          <a:xfrm>
            <a:off x="1741225" y="1085525"/>
            <a:ext cx="272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44444"/>
                </a:solidFill>
                <a:latin typeface="Lato"/>
                <a:ea typeface="Lato"/>
                <a:cs typeface="Lato"/>
                <a:sym typeface="Lato"/>
              </a:rPr>
              <a:t>Standard CNN</a:t>
            </a:r>
            <a:endParaRPr sz="1000">
              <a:solidFill>
                <a:srgbClr val="444444"/>
              </a:solidFill>
              <a:latin typeface="Lato"/>
              <a:ea typeface="Lato"/>
              <a:cs typeface="Lato"/>
              <a:sym typeface="Lato"/>
            </a:endParaRPr>
          </a:p>
        </p:txBody>
      </p:sp>
      <p:sp>
        <p:nvSpPr>
          <p:cNvPr id="319" name="Google Shape;319;p28"/>
          <p:cNvSpPr txBox="1"/>
          <p:nvPr/>
        </p:nvSpPr>
        <p:spPr>
          <a:xfrm>
            <a:off x="4682663" y="1085525"/>
            <a:ext cx="272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44444"/>
                </a:solidFill>
                <a:latin typeface="Lato"/>
                <a:ea typeface="Lato"/>
                <a:cs typeface="Lato"/>
                <a:sym typeface="Lato"/>
              </a:rPr>
              <a:t>Resnet</a:t>
            </a:r>
            <a:endParaRPr sz="1000">
              <a:solidFill>
                <a:srgbClr val="444444"/>
              </a:solidFill>
              <a:latin typeface="Lato"/>
              <a:ea typeface="Lato"/>
              <a:cs typeface="Lato"/>
              <a:sym typeface="Lato"/>
            </a:endParaRPr>
          </a:p>
        </p:txBody>
      </p:sp>
      <p:sp>
        <p:nvSpPr>
          <p:cNvPr id="320" name="Google Shape;320;p28"/>
          <p:cNvSpPr txBox="1"/>
          <p:nvPr/>
        </p:nvSpPr>
        <p:spPr>
          <a:xfrm>
            <a:off x="1741225" y="3114500"/>
            <a:ext cx="272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44444"/>
                </a:solidFill>
                <a:latin typeface="Lato"/>
                <a:ea typeface="Lato"/>
                <a:cs typeface="Lato"/>
                <a:sym typeface="Lato"/>
              </a:rPr>
              <a:t>Maxout</a:t>
            </a:r>
            <a:endParaRPr sz="1000">
              <a:solidFill>
                <a:srgbClr val="444444"/>
              </a:solidFill>
              <a:latin typeface="Lato"/>
              <a:ea typeface="Lato"/>
              <a:cs typeface="Lato"/>
              <a:sym typeface="Lato"/>
            </a:endParaRPr>
          </a:p>
        </p:txBody>
      </p:sp>
      <p:sp>
        <p:nvSpPr>
          <p:cNvPr id="321" name="Google Shape;321;p28"/>
          <p:cNvSpPr txBox="1"/>
          <p:nvPr/>
        </p:nvSpPr>
        <p:spPr>
          <a:xfrm>
            <a:off x="4682663" y="3114500"/>
            <a:ext cx="2720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444444"/>
                </a:solidFill>
                <a:latin typeface="Lato"/>
                <a:ea typeface="Lato"/>
                <a:cs typeface="Lato"/>
                <a:sym typeface="Lato"/>
              </a:rPr>
              <a:t>Fractalnet</a:t>
            </a:r>
            <a:endParaRPr sz="1000">
              <a:solidFill>
                <a:srgbClr val="444444"/>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9"/>
          <p:cNvSpPr txBox="1"/>
          <p:nvPr>
            <p:ph type="title"/>
          </p:nvPr>
        </p:nvSpPr>
        <p:spPr>
          <a:xfrm>
            <a:off x="500850" y="556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Takeaways for deployment</a:t>
            </a:r>
            <a:endParaRPr/>
          </a:p>
        </p:txBody>
      </p:sp>
      <p:sp>
        <p:nvSpPr>
          <p:cNvPr id="327" name="Google Shape;327;p29"/>
          <p:cNvSpPr txBox="1"/>
          <p:nvPr>
            <p:ph idx="1" type="body"/>
          </p:nvPr>
        </p:nvSpPr>
        <p:spPr>
          <a:xfrm>
            <a:off x="729325" y="1393075"/>
            <a:ext cx="7596300" cy="3477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Overfitting likely would be solved by training on entire Places205 dataset (2.5 million images)</a:t>
            </a:r>
            <a:endParaRPr sz="1400"/>
          </a:p>
          <a:p>
            <a:pPr indent="-317500" lvl="0" marL="457200" rtl="0" algn="l">
              <a:spcBef>
                <a:spcPts val="0"/>
              </a:spcBef>
              <a:spcAft>
                <a:spcPts val="0"/>
              </a:spcAft>
              <a:buSzPts val="1400"/>
              <a:buChar char="●"/>
            </a:pPr>
            <a:r>
              <a:rPr lang="en" sz="1400"/>
              <a:t>Testing with the entire dataset would have to be done to verify, but more complex architectures in classification don’t seem to translate to better CQ performance</a:t>
            </a:r>
            <a:endParaRPr sz="1400"/>
          </a:p>
          <a:p>
            <a:pPr indent="-317500" lvl="0" marL="457200" rtl="0" algn="l">
              <a:spcBef>
                <a:spcPts val="0"/>
              </a:spcBef>
              <a:spcAft>
                <a:spcPts val="0"/>
              </a:spcAft>
              <a:buSzPts val="1400"/>
              <a:buChar char="●"/>
            </a:pPr>
            <a:r>
              <a:rPr lang="en" sz="1400"/>
              <a:t>More research needed to conclude what architectures translate to better CQ performance</a:t>
            </a:r>
            <a:endParaRPr sz="1400"/>
          </a:p>
          <a:p>
            <a:pPr indent="-317500" lvl="0" marL="457200" rtl="0" algn="l">
              <a:spcBef>
                <a:spcPts val="0"/>
              </a:spcBef>
              <a:spcAft>
                <a:spcPts val="0"/>
              </a:spcAft>
              <a:buSzPts val="1400"/>
              <a:buChar char="●"/>
            </a:pPr>
            <a:r>
              <a:rPr lang="en" sz="1400"/>
              <a:t>2 possibilities</a:t>
            </a:r>
            <a:endParaRPr sz="1400"/>
          </a:p>
          <a:p>
            <a:pPr indent="-317500" lvl="1" marL="914400" rtl="0" algn="l">
              <a:spcBef>
                <a:spcPts val="0"/>
              </a:spcBef>
              <a:spcAft>
                <a:spcPts val="0"/>
              </a:spcAft>
              <a:buSzPts val="1400"/>
              <a:buChar char="○"/>
            </a:pPr>
            <a:r>
              <a:rPr lang="en" sz="1400"/>
              <a:t>Models shown to perform better in classification are not inherently better in color quantization as well</a:t>
            </a:r>
            <a:endParaRPr sz="1400"/>
          </a:p>
          <a:p>
            <a:pPr indent="-317500" lvl="1" marL="914400" rtl="0" algn="l">
              <a:spcBef>
                <a:spcPts val="0"/>
              </a:spcBef>
              <a:spcAft>
                <a:spcPts val="0"/>
              </a:spcAft>
              <a:buSzPts val="1400"/>
              <a:buChar char="○"/>
            </a:pPr>
            <a:r>
              <a:rPr lang="en" sz="1400"/>
              <a:t>Models shown to perform better in classification are also better in color quantization, but are just overfitting faster than the standard CNN, so their minimum validation losses are worse</a:t>
            </a:r>
            <a:endParaRPr sz="1400"/>
          </a:p>
        </p:txBody>
      </p:sp>
      <p:sp>
        <p:nvSpPr>
          <p:cNvPr id="328" name="Google Shape;328;p29"/>
          <p:cNvSpPr txBox="1"/>
          <p:nvPr/>
        </p:nvSpPr>
        <p:spPr>
          <a:xfrm>
            <a:off x="0" y="4934625"/>
            <a:ext cx="9144000" cy="16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500"/>
              <a:t>B. Zhou, A. Lapedriza, J. Xiao, A. Torralba, and A. Oliva. Learning Deep Features for Scene Recognition using Places Database. Advances in Neural Information Processing Systems 27 (NIPS), 2014.</a:t>
            </a:r>
            <a:endParaRPr sz="500"/>
          </a:p>
          <a:p>
            <a:pPr indent="0" lvl="0" marL="0" rtl="0" algn="l">
              <a:spcBef>
                <a:spcPts val="0"/>
              </a:spcBef>
              <a:spcAft>
                <a:spcPts val="0"/>
              </a:spcAft>
              <a:buNone/>
            </a:pPr>
            <a:r>
              <a:t/>
            </a:r>
            <a:endParaRPr sz="100">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Acknowledgements</a:t>
            </a:r>
            <a:endParaRPr/>
          </a:p>
        </p:txBody>
      </p:sp>
      <p:sp>
        <p:nvSpPr>
          <p:cNvPr id="334" name="Google Shape;334;p30"/>
          <p:cNvSpPr txBox="1"/>
          <p:nvPr>
            <p:ph idx="1" type="body"/>
          </p:nvPr>
        </p:nvSpPr>
        <p:spPr>
          <a:xfrm>
            <a:off x="729325" y="2078875"/>
            <a:ext cx="60315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Mr. Dressen</a:t>
            </a:r>
            <a:endParaRPr/>
          </a:p>
          <a:p>
            <a:pPr indent="0" lvl="0" marL="0" rtl="0" algn="l">
              <a:spcBef>
                <a:spcPts val="1600"/>
              </a:spcBef>
              <a:spcAft>
                <a:spcPts val="1600"/>
              </a:spcAft>
              <a:buNone/>
            </a:pPr>
            <a:r>
              <a:rPr lang="en"/>
              <a:t>Dr. Emre Celebi</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340" name="Google Shape;340;p31"/>
          <p:cNvSpPr txBox="1"/>
          <p:nvPr>
            <p:ph idx="1" type="body"/>
          </p:nvPr>
        </p:nvSpPr>
        <p:spPr>
          <a:xfrm>
            <a:off x="467700" y="1815950"/>
            <a:ext cx="8208600" cy="22611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Walker, Ryan. “Color Quantization in R.” R, 3 Jan. 2016, www.r-bloggers.com/2016/01/color-quantization-in-r</a:t>
            </a:r>
            <a:r>
              <a:rPr lang="en" sz="1200"/>
              <a:t>/</a:t>
            </a:r>
            <a:r>
              <a:rPr lang="en" sz="1200"/>
              <a:t>.</a:t>
            </a:r>
            <a:endParaRPr sz="1200"/>
          </a:p>
          <a:p>
            <a:pPr indent="-304800" lvl="0" marL="457200" rtl="0" algn="l">
              <a:spcBef>
                <a:spcPts val="0"/>
              </a:spcBef>
              <a:spcAft>
                <a:spcPts val="0"/>
              </a:spcAft>
              <a:buSzPts val="1200"/>
              <a:buChar char="●"/>
            </a:pPr>
            <a:r>
              <a:rPr lang="en" sz="1200"/>
              <a:t>Celebi, M. Emre. “Improving the Performance of k-Means for Color Quantization.” Image and Vision Computing, vol. 29, no. 4, 2011, pp. 260–271., doi:10.1016/j.imavis.2010.10.002.</a:t>
            </a:r>
            <a:endParaRPr sz="1200"/>
          </a:p>
          <a:p>
            <a:pPr indent="-304800" lvl="0" marL="457200" rtl="0" algn="l">
              <a:spcBef>
                <a:spcPts val="0"/>
              </a:spcBef>
              <a:spcAft>
                <a:spcPts val="0"/>
              </a:spcAft>
              <a:buSzPts val="1200"/>
              <a:buChar char="●"/>
            </a:pPr>
            <a:r>
              <a:rPr lang="en" sz="1200"/>
              <a:t>Burger, Wilhelm, and Mark J. Burge. Digital Image Processing An Algorithmic Introduction Using Java. Springer, 2016.</a:t>
            </a:r>
            <a:endParaRPr sz="1200"/>
          </a:p>
          <a:p>
            <a:pPr indent="-304800" lvl="0" marL="457200" rtl="0" algn="l">
              <a:spcBef>
                <a:spcPts val="0"/>
              </a:spcBef>
              <a:spcAft>
                <a:spcPts val="0"/>
              </a:spcAft>
              <a:buSzPts val="1200"/>
              <a:buChar char="●"/>
            </a:pPr>
            <a:r>
              <a:rPr lang="en" sz="1200"/>
              <a:t>B. Zhou, A. Lapedriza, J. Xiao, A. Torralba, and A. Oliva. “Learning Deep Features for Scene Recognition using Places Database.” Advances in Neural Information Processing Systems 27 (NIPS), 2014.</a:t>
            </a:r>
            <a:endParaRPr sz="1200"/>
          </a:p>
          <a:p>
            <a:pPr indent="-304800" lvl="0" marL="457200" rtl="0" algn="l">
              <a:spcBef>
                <a:spcPts val="0"/>
              </a:spcBef>
              <a:spcAft>
                <a:spcPts val="0"/>
              </a:spcAft>
              <a:buSzPts val="1200"/>
              <a:buChar char="●"/>
            </a:pPr>
            <a:r>
              <a:rPr lang="en" sz="1200"/>
              <a:t>Storer, James A., and Thomas G. Szymanski. “Data Compression via Textual Substitution.” Journal of the ACM, vol. 29, no. 4, 1982, pp. 928–951., doi:10.1145/322344.322346.</a:t>
            </a:r>
            <a:endParaRPr sz="1200"/>
          </a:p>
          <a:p>
            <a:pPr indent="-304800" lvl="0" marL="457200" rtl="0" algn="l">
              <a:spcBef>
                <a:spcPts val="0"/>
              </a:spcBef>
              <a:spcAft>
                <a:spcPts val="0"/>
              </a:spcAft>
              <a:buSzPts val="1200"/>
              <a:buChar char="●"/>
            </a:pPr>
            <a:r>
              <a:rPr lang="en" sz="1200"/>
              <a:t>Larsson, G., Maire, M., &amp; Shakhnarovich, G. (2017). FractalNet: Ultra-Deep Neural Networks without Residuals. In ICLR.</a:t>
            </a:r>
            <a:endParaRPr sz="1200"/>
          </a:p>
          <a:p>
            <a:pPr indent="-304800" lvl="0" marL="457200" rtl="0" algn="l">
              <a:spcBef>
                <a:spcPts val="0"/>
              </a:spcBef>
              <a:spcAft>
                <a:spcPts val="0"/>
              </a:spcAft>
              <a:buSzPts val="1200"/>
              <a:buChar char="●"/>
            </a:pPr>
            <a:r>
              <a:rPr lang="en" sz="1200"/>
              <a:t>Fenwick, Sam, and Hardik Khatri. n.d., The State of Mobile Network Experience 2020: One Year Into the 5G Era.</a:t>
            </a:r>
            <a:endParaRPr sz="1200"/>
          </a:p>
          <a:p>
            <a:pPr indent="-304800" lvl="0" marL="457200" rtl="0" algn="l">
              <a:spcBef>
                <a:spcPts val="0"/>
              </a:spcBef>
              <a:spcAft>
                <a:spcPts val="0"/>
              </a:spcAft>
              <a:buSzPts val="1200"/>
              <a:buChar char="●"/>
            </a:pPr>
            <a:r>
              <a:rPr lang="en" sz="1200"/>
              <a:t>B. Zhou, A. Lapedriza, J. Xiao, A. Torralba, and A. Oliva. Learning Deep Features for Scene Recognition using Places Database. Advances in Neural Information Processing Systems 27 (NIPS), 2014.</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